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2" r:id="rId4"/>
    <p:sldId id="261" r:id="rId5"/>
    <p:sldId id="265" r:id="rId6"/>
    <p:sldId id="266" r:id="rId7"/>
    <p:sldId id="260" r:id="rId8"/>
    <p:sldId id="258" r:id="rId9"/>
    <p:sldId id="259" r:id="rId10"/>
    <p:sldId id="263" r:id="rId11"/>
    <p:sldId id="264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4C66-5671-42A1-8F75-0F9D70342202}" type="datetimeFigureOut">
              <a:rPr lang="cs-CZ" smtClean="0"/>
              <a:t>12.09.2023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2560-8C32-4923-AFFF-1DCAF88AA5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601195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4C66-5671-42A1-8F75-0F9D70342202}" type="datetimeFigureOut">
              <a:rPr lang="cs-CZ" smtClean="0"/>
              <a:t>12.09.2023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2560-8C32-4923-AFFF-1DCAF88AA5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737995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4C66-5671-42A1-8F75-0F9D70342202}" type="datetimeFigureOut">
              <a:rPr lang="cs-CZ" smtClean="0"/>
              <a:t>12.09.2023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2560-8C32-4923-AFFF-1DCAF88AA5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099018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4C66-5671-42A1-8F75-0F9D70342202}" type="datetimeFigureOut">
              <a:rPr lang="cs-CZ" smtClean="0"/>
              <a:t>12.09.2023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2560-8C32-4923-AFFF-1DCAF88AA5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998760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4C66-5671-42A1-8F75-0F9D70342202}" type="datetimeFigureOut">
              <a:rPr lang="cs-CZ" smtClean="0"/>
              <a:t>12.09.2023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2560-8C32-4923-AFFF-1DCAF88AA5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122572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4C66-5671-42A1-8F75-0F9D70342202}" type="datetimeFigureOut">
              <a:rPr lang="cs-CZ" smtClean="0"/>
              <a:t>12.09.2023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2560-8C32-4923-AFFF-1DCAF88AA5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804707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4C66-5671-42A1-8F75-0F9D70342202}" type="datetimeFigureOut">
              <a:rPr lang="cs-CZ" smtClean="0"/>
              <a:t>12.09.2023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2560-8C32-4923-AFFF-1DCAF88AA5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522511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4C66-5671-42A1-8F75-0F9D70342202}" type="datetimeFigureOut">
              <a:rPr lang="cs-CZ" smtClean="0"/>
              <a:t>12.09.2023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2560-8C32-4923-AFFF-1DCAF88AA5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424627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4C66-5671-42A1-8F75-0F9D70342202}" type="datetimeFigureOut">
              <a:rPr lang="cs-CZ" smtClean="0"/>
              <a:t>12.09.2023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2560-8C32-4923-AFFF-1DCAF88AA5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55557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4C66-5671-42A1-8F75-0F9D70342202}" type="datetimeFigureOut">
              <a:rPr lang="cs-CZ" smtClean="0"/>
              <a:t>12.09.2023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2560-8C32-4923-AFFF-1DCAF88AA5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861891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4C66-5671-42A1-8F75-0F9D70342202}" type="datetimeFigureOut">
              <a:rPr lang="cs-CZ" smtClean="0"/>
              <a:t>12.09.2023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2560-8C32-4923-AFFF-1DCAF88AA53F}" type="slidenum">
              <a:rPr lang="cs-CZ" smtClean="0"/>
              <a:t>‹#›</a:t>
            </a:fld>
            <a:endParaRPr lang="cs-CZ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28990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4C66-5671-42A1-8F75-0F9D70342202}" type="datetimeFigureOut">
              <a:rPr lang="cs-CZ" smtClean="0"/>
              <a:t>12.09.2023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2560-8C32-4923-AFFF-1DCAF88AA5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81037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 s citac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4C66-5671-42A1-8F75-0F9D70342202}" type="datetimeFigureOut">
              <a:rPr lang="cs-CZ" smtClean="0"/>
              <a:t>12.09.2023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2560-8C32-4923-AFFF-1DCAF88AA53F}" type="slidenum">
              <a:rPr lang="cs-CZ" smtClean="0"/>
              <a:t>‹#›</a:t>
            </a:fld>
            <a:endParaRPr lang="cs-CZ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293253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vda nebo neprav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4C66-5671-42A1-8F75-0F9D70342202}" type="datetimeFigureOut">
              <a:rPr lang="cs-CZ" smtClean="0"/>
              <a:t>12.09.2023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2560-8C32-4923-AFFF-1DCAF88AA5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057705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4C66-5671-42A1-8F75-0F9D70342202}" type="datetimeFigureOut">
              <a:rPr lang="cs-CZ" smtClean="0"/>
              <a:t>12.09.2023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2560-8C32-4923-AFFF-1DCAF88AA5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529142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4C66-5671-42A1-8F75-0F9D70342202}" type="datetimeFigureOut">
              <a:rPr lang="cs-CZ" smtClean="0"/>
              <a:t>12.09.2023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2560-8C32-4923-AFFF-1DCAF88AA5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052868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0D4C66-5671-42A1-8F75-0F9D70342202}" type="datetimeFigureOut">
              <a:rPr lang="cs-CZ" smtClean="0"/>
              <a:t>12.09.2023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CCA2560-8C32-4923-AFFF-1DCAF88AA5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97098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s.wikipedia.org/w/index.php?title=Multi-boot&amp;oldid=21314329" TargetMode="External"/><Relationship Id="rId2" Type="http://schemas.openxmlformats.org/officeDocument/2006/relationships/hyperlink" Target="https://cs.wikipedia.org/w/index.php?title=Bootov%C3%A1n%C3%AD&amp;oldid=22299535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s.wikipedia.org/w/index.php?title=BIOS&amp;oldid=23069145" TargetMode="External"/><Relationship Id="rId4" Type="http://schemas.openxmlformats.org/officeDocument/2006/relationships/hyperlink" Target="https://cs.wikipedia.org/w/index.php?title=Unified_Extensible_Firmware_Interface&amp;oldid=2182644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EC95B1F-CF5A-7100-06CC-B0EF93C0D9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cs-CZ" dirty="0"/>
              <a:t>BOOTOVÁNÍ OPERAČNÍCH SYSTÉMŮ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5BB79114-2F2A-C9B5-9FEE-7DB68E23A6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5064" y="5761101"/>
            <a:ext cx="7766936" cy="1096899"/>
          </a:xfrm>
        </p:spPr>
        <p:txBody>
          <a:bodyPr>
            <a:normAutofit fontScale="85000" lnSpcReduction="20000"/>
          </a:bodyPr>
          <a:lstStyle/>
          <a:p>
            <a:r>
              <a:rPr lang="cs-CZ" sz="2400" dirty="0"/>
              <a:t>Martin Novan 2.D</a:t>
            </a:r>
          </a:p>
          <a:p>
            <a:r>
              <a:rPr lang="cs-CZ" sz="2400" dirty="0"/>
              <a:t>Střední průmyslová škola</a:t>
            </a:r>
          </a:p>
          <a:p>
            <a:r>
              <a:rPr lang="cs-CZ" sz="2400" dirty="0"/>
              <a:t>Česká Lípa, Havlíčkova 426, příspěvková organizace</a:t>
            </a:r>
          </a:p>
          <a:p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8597654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8DFF82E-E76B-72B4-B4DA-4CAD13944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cs-CZ" dirty="0"/>
              <a:t>Bootování (</a:t>
            </a:r>
            <a:r>
              <a:rPr lang="cs-CZ" dirty="0" err="1"/>
              <a:t>booting</a:t>
            </a:r>
            <a:r>
              <a:rPr lang="cs-CZ" dirty="0"/>
              <a:t>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89CE469-790A-C8C3-3DC3-FDD2EDA0F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957349" cy="3749323"/>
          </a:xfrm>
        </p:spPr>
        <p:txBody>
          <a:bodyPr>
            <a:normAutofit/>
          </a:bodyPr>
          <a:lstStyle/>
          <a:p>
            <a:r>
              <a:rPr lang="cs-CZ" dirty="0"/>
              <a:t>Zavádění systému jádra operačního systému</a:t>
            </a:r>
          </a:p>
          <a:p>
            <a:r>
              <a:rPr lang="cs-CZ" dirty="0"/>
              <a:t>Při zapnutí nebo restartování</a:t>
            </a:r>
          </a:p>
          <a:p>
            <a:r>
              <a:rPr lang="cs-CZ" dirty="0"/>
              <a:t>Pochází z angl. slangového výrazu (</a:t>
            </a:r>
            <a:r>
              <a:rPr lang="cs-CZ" dirty="0" err="1"/>
              <a:t>bootstrap</a:t>
            </a:r>
            <a:r>
              <a:rPr lang="cs-CZ" dirty="0"/>
              <a:t>)</a:t>
            </a:r>
          </a:p>
        </p:txBody>
      </p:sp>
      <p:pic>
        <p:nvPicPr>
          <p:cNvPr id="1028" name="Picture 4" descr="undefined">
            <a:extLst>
              <a:ext uri="{FF2B5EF4-FFF2-40B4-BE49-F238E27FC236}">
                <a16:creationId xmlns:a16="http://schemas.microsoft.com/office/drawing/2014/main" id="{88816E9E-54E9-119A-B09C-812635E13C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34683" y="1549731"/>
            <a:ext cx="6264893" cy="4698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36890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1181290-AA46-A93F-4506-995D3057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cs-CZ" dirty="0"/>
              <a:t>BIOS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AD50358-6C7A-274D-3057-B5BF44835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2" y="2160589"/>
            <a:ext cx="4410718" cy="3880773"/>
          </a:xfrm>
        </p:spPr>
        <p:txBody>
          <a:bodyPr>
            <a:normAutofit/>
          </a:bodyPr>
          <a:lstStyle/>
          <a:p>
            <a:r>
              <a:rPr lang="cs-CZ" dirty="0"/>
              <a:t>Implementuje základní vstupně-výstupní funkce</a:t>
            </a:r>
          </a:p>
          <a:p>
            <a:r>
              <a:rPr lang="cs-CZ" dirty="0"/>
              <a:t>Představuje firmware pro osobní počítače</a:t>
            </a:r>
          </a:p>
          <a:p>
            <a:r>
              <a:rPr lang="cs-CZ" dirty="0"/>
              <a:t>Postupně nahrazován systémem UEFI</a:t>
            </a:r>
          </a:p>
          <a:p>
            <a:r>
              <a:rPr lang="cs-CZ" dirty="0"/>
              <a:t>Uložen na základní desce</a:t>
            </a:r>
          </a:p>
          <a:p>
            <a:r>
              <a:rPr lang="cs-CZ" dirty="0"/>
              <a:t>Klávesa F2, F12, DEL</a:t>
            </a:r>
          </a:p>
          <a:p>
            <a:r>
              <a:rPr lang="cs-CZ" dirty="0"/>
              <a:t>Liší se na každém PC</a:t>
            </a:r>
          </a:p>
        </p:txBody>
      </p:sp>
      <p:pic>
        <p:nvPicPr>
          <p:cNvPr id="4100" name="Picture 4" descr="BIOS Basics: How to Configure Your PC's Firmware for First Use | PCMag">
            <a:extLst>
              <a:ext uri="{FF2B5EF4-FFF2-40B4-BE49-F238E27FC236}">
                <a16:creationId xmlns:a16="http://schemas.microsoft.com/office/drawing/2014/main" id="{BF918B63-6DF2-24A0-1A33-113BE8E047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83562" y="3652460"/>
            <a:ext cx="5123962" cy="3124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TIP#895: Jak se dostat do BIOSu. A co to vlastně ten BIOS je? - @365tipu">
            <a:extLst>
              <a:ext uri="{FF2B5EF4-FFF2-40B4-BE49-F238E27FC236}">
                <a16:creationId xmlns:a16="http://schemas.microsoft.com/office/drawing/2014/main" id="{32839375-2D52-33D1-9FE1-9B85981D51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38022" y="368141"/>
            <a:ext cx="5554696" cy="3124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11033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C67B60A-0A80-4290-C2D3-ADF80B9D8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UEFI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434A993-4C13-7148-BDE8-4F9649886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Unified</a:t>
            </a:r>
            <a:r>
              <a:rPr lang="cs-CZ" dirty="0"/>
              <a:t> </a:t>
            </a:r>
            <a:r>
              <a:rPr lang="cs-CZ" dirty="0" err="1"/>
              <a:t>Extensible</a:t>
            </a:r>
            <a:r>
              <a:rPr lang="cs-CZ" dirty="0"/>
              <a:t> Firmware Interface</a:t>
            </a:r>
          </a:p>
          <a:p>
            <a:r>
              <a:rPr lang="cs-CZ" dirty="0"/>
              <a:t>Nástupce původního rozhraní BIOS</a:t>
            </a:r>
          </a:p>
          <a:p>
            <a:r>
              <a:rPr lang="cs-CZ" dirty="0"/>
              <a:t>Vyvinuta společností Intel (EFI)</a:t>
            </a:r>
          </a:p>
          <a:p>
            <a:r>
              <a:rPr lang="cs-CZ" dirty="0"/>
              <a:t>UEFI = nový standart</a:t>
            </a:r>
          </a:p>
          <a:p>
            <a:r>
              <a:rPr lang="cs-CZ" dirty="0"/>
              <a:t>Podpora </a:t>
            </a:r>
            <a:r>
              <a:rPr lang="cs-CZ" dirty="0" err="1"/>
              <a:t>Secure</a:t>
            </a:r>
            <a:r>
              <a:rPr lang="cs-CZ" dirty="0"/>
              <a:t> </a:t>
            </a:r>
            <a:r>
              <a:rPr lang="cs-CZ" dirty="0" err="1"/>
              <a:t>boot</a:t>
            </a:r>
            <a:endParaRPr lang="cs-CZ" dirty="0"/>
          </a:p>
          <a:p>
            <a:r>
              <a:rPr lang="cs-CZ" dirty="0"/>
              <a:t>Využití schopností nových procesorů</a:t>
            </a:r>
          </a:p>
          <a:p>
            <a:r>
              <a:rPr lang="cs-CZ" dirty="0"/>
              <a:t>Podpora GPT (GUID </a:t>
            </a:r>
            <a:r>
              <a:rPr lang="cs-CZ" dirty="0" err="1"/>
              <a:t>Partition</a:t>
            </a:r>
            <a:r>
              <a:rPr lang="cs-CZ" dirty="0"/>
              <a:t> Table)</a:t>
            </a:r>
          </a:p>
        </p:txBody>
      </p:sp>
    </p:spTree>
    <p:extLst>
      <p:ext uri="{BB962C8B-B14F-4D97-AF65-F5344CB8AC3E}">
        <p14:creationId xmlns:p14="http://schemas.microsoft.com/office/powerpoint/2010/main" val="1057057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BB4B8A7-9EEB-9924-7965-238936371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Secure</a:t>
            </a:r>
            <a:r>
              <a:rPr lang="cs-CZ" dirty="0"/>
              <a:t> </a:t>
            </a:r>
            <a:r>
              <a:rPr lang="cs-CZ" dirty="0" err="1"/>
              <a:t>boot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825600B-FD23-FC56-FEA0-20CF416BA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Ověřovací mechanismus</a:t>
            </a:r>
          </a:p>
          <a:p>
            <a:r>
              <a:rPr lang="cs-CZ" dirty="0"/>
              <a:t>Zajišťuje zda je software důvěryhodný</a:t>
            </a:r>
          </a:p>
          <a:p>
            <a:r>
              <a:rPr lang="cs-CZ" dirty="0"/>
              <a:t>Navržen tak, aby zabránil aktivaci malwaru ,ještě před zavedením OS</a:t>
            </a:r>
          </a:p>
          <a:p>
            <a:r>
              <a:rPr lang="cs-CZ" dirty="0"/>
              <a:t>Nedokáže zamezit softwarovým chybám v OS</a:t>
            </a:r>
          </a:p>
          <a:p>
            <a:r>
              <a:rPr lang="pl-PL" dirty="0"/>
              <a:t>Proto nezajišťuje 100% bezpečnost</a:t>
            </a:r>
            <a:endParaRPr lang="cs-CZ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3224A16C-F5B9-A869-477A-401434CFC2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429000"/>
            <a:ext cx="4831948" cy="3355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40995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27CC47E-B8AF-4E63-48E6-4D22EEA8B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GTP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45FA4F8-8A8A-B44F-35E7-1B6641F47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GUID </a:t>
            </a:r>
            <a:r>
              <a:rPr lang="cs-CZ" dirty="0" err="1"/>
              <a:t>Partition</a:t>
            </a:r>
            <a:r>
              <a:rPr lang="cs-CZ" dirty="0"/>
              <a:t> Table</a:t>
            </a:r>
          </a:p>
          <a:p>
            <a:r>
              <a:rPr lang="cs-CZ" dirty="0"/>
              <a:t>Standard pro popis členění pevného disku na oddíly</a:t>
            </a:r>
          </a:p>
          <a:p>
            <a:r>
              <a:rPr lang="cs-CZ" dirty="0"/>
              <a:t>Nahrazuje starší tabulku MBR</a:t>
            </a:r>
          </a:p>
          <a:p>
            <a:r>
              <a:rPr lang="cs-CZ" dirty="0"/>
              <a:t>MBR neumožňuje použít disk větší než 2TB</a:t>
            </a:r>
          </a:p>
          <a:p>
            <a:r>
              <a:rPr lang="pl-PL" dirty="0"/>
              <a:t>Konverze disku z MBR na GPT je možná</a:t>
            </a:r>
          </a:p>
          <a:p>
            <a:r>
              <a:rPr lang="fr-FR" dirty="0"/>
              <a:t>GPT je součástí standardu UEFI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653266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B4D7560-56C9-606E-E995-86B1C6F9B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Multi-boot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8DC07BC-34D5-504C-FFCF-13210ED2A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též </a:t>
            </a:r>
            <a:r>
              <a:rPr lang="cs-CZ" dirty="0" err="1"/>
              <a:t>multi-booting</a:t>
            </a:r>
            <a:r>
              <a:rPr lang="cs-CZ" dirty="0"/>
              <a:t>, </a:t>
            </a:r>
            <a:r>
              <a:rPr lang="cs-CZ" dirty="0" err="1"/>
              <a:t>dual-booting</a:t>
            </a:r>
            <a:endParaRPr lang="cs-CZ" dirty="0"/>
          </a:p>
          <a:p>
            <a:r>
              <a:rPr lang="cs-CZ" dirty="0"/>
              <a:t>možnosti výběru z několika operačních systémů</a:t>
            </a:r>
          </a:p>
          <a:p>
            <a:r>
              <a:rPr lang="cs-CZ" dirty="0"/>
              <a:t>více nezávislých operačních systémů</a:t>
            </a:r>
          </a:p>
          <a:p>
            <a:r>
              <a:rPr lang="cs-CZ" dirty="0"/>
              <a:t>Windows </a:t>
            </a:r>
            <a:r>
              <a:rPr lang="cs-CZ" dirty="0" err="1"/>
              <a:t>boot</a:t>
            </a:r>
            <a:r>
              <a:rPr lang="cs-CZ" dirty="0"/>
              <a:t> manager, GRUB, LILO, XOSL, …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896455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74ABB94-9856-311B-E200-16223AEA2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Windows </a:t>
            </a:r>
            <a:r>
              <a:rPr lang="cs-CZ" dirty="0" err="1"/>
              <a:t>boot</a:t>
            </a:r>
            <a:r>
              <a:rPr lang="cs-CZ" dirty="0"/>
              <a:t> manager</a:t>
            </a:r>
          </a:p>
        </p:txBody>
      </p:sp>
      <p:pic>
        <p:nvPicPr>
          <p:cNvPr id="2050" name="Picture 2" descr="Windows Boot Manager - Wikipedia">
            <a:extLst>
              <a:ext uri="{FF2B5EF4-FFF2-40B4-BE49-F238E27FC236}">
                <a16:creationId xmlns:a16="http://schemas.microsoft.com/office/drawing/2014/main" id="{525BC2DE-154A-AF52-B4FD-FD53AD956D8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97" y="1791504"/>
            <a:ext cx="5725288" cy="4293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indows 10: How to Change OS Name in Dual Boot Menu Password Recovery |  Password Recovery">
            <a:extLst>
              <a:ext uri="{FF2B5EF4-FFF2-40B4-BE49-F238E27FC236}">
                <a16:creationId xmlns:a16="http://schemas.microsoft.com/office/drawing/2014/main" id="{471CA1F6-0B2C-6CEE-8471-8BA5680BD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5916" y="1789981"/>
            <a:ext cx="5345066" cy="4295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24118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A8287B6-C1F5-B62E-C582-B8D4BA4D9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GRUB</a:t>
            </a:r>
          </a:p>
        </p:txBody>
      </p:sp>
      <p:pic>
        <p:nvPicPr>
          <p:cNvPr id="3074" name="Picture 2" descr="grub-pc [Wiki ubuntu-fr]">
            <a:extLst>
              <a:ext uri="{FF2B5EF4-FFF2-40B4-BE49-F238E27FC236}">
                <a16:creationId xmlns:a16="http://schemas.microsoft.com/office/drawing/2014/main" id="{95C9E74E-6064-0543-E7C5-FDFBCD30D7E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7" y="1633597"/>
            <a:ext cx="6106665" cy="4360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grub2 - How hide the grub 2 start up screen in debian during bootup? - Unix  &amp; Linux Stack Exchange">
            <a:extLst>
              <a:ext uri="{FF2B5EF4-FFF2-40B4-BE49-F238E27FC236}">
                <a16:creationId xmlns:a16="http://schemas.microsoft.com/office/drawing/2014/main" id="{D2CB8872-E90B-B093-E004-6EB054A0D1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1934" y="1633597"/>
            <a:ext cx="5850109" cy="4360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17644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4BE0A14-5957-04B7-5C59-31D91B046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LILO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FE0E418-3FC4-0196-41FB-BAE6CEBA856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30400"/>
            <a:ext cx="6038688" cy="3926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BF50E295-B3B2-11E7-8167-FEE7EAAA99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3314" y="1930400"/>
            <a:ext cx="6038687" cy="3926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48563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99AD4DB-56EE-1B7F-2FF4-6C3DD96E1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XOSL</a:t>
            </a:r>
          </a:p>
        </p:txBody>
      </p:sp>
      <p:pic>
        <p:nvPicPr>
          <p:cNvPr id="6146" name="Picture 2" descr="XOSL - ihned zdarma ke stažení - Slunečnice.cz">
            <a:extLst>
              <a:ext uri="{FF2B5EF4-FFF2-40B4-BE49-F238E27FC236}">
                <a16:creationId xmlns:a16="http://schemas.microsoft.com/office/drawing/2014/main" id="{7D5C4A44-763F-8079-CA94-CAF1FAD162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48" y="1451186"/>
            <a:ext cx="7980453" cy="4953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92946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B72A269-235D-B310-74E9-AFCD74DC3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926D77C-3D18-C162-C8B4-F301E96C7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Přispěvatelé Wikipedie,</a:t>
            </a:r>
            <a:r>
              <a:rPr lang="cs-CZ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Bootování</a:t>
            </a:r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[online], Wikipedie: Otevřená encyklopedie, c2023, Datum poslední revize 4. 01. 2023, 12:11 UTC, [citováno 12. 09. 2023] </a:t>
            </a:r>
            <a:r>
              <a:rPr lang="cs-CZ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2"/>
              </a:rPr>
              <a:t>https://cs.wikipedia.org/w/index.php?title=Bootov%C3%A1n%C3%AD&amp;oldid=22299535</a:t>
            </a:r>
            <a:endParaRPr lang="cs-CZ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Přispěvatelé Wikipedie,</a:t>
            </a:r>
            <a:r>
              <a:rPr lang="cs-CZ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cs-CZ" b="0" i="1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Multi-boot</a:t>
            </a:r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[online], Wikipedie: Otevřená encyklopedie, c2022, Datum poslední revize 22. 05. 2022, 14:22 UTC, [citováno 12. 09. 2023] </a:t>
            </a:r>
            <a:r>
              <a:rPr lang="cs-CZ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3"/>
              </a:rPr>
              <a:t>https://cs.wikipedia.org/w/index.php?title=Multi-boot&amp;oldid=21314329</a:t>
            </a:r>
            <a:endParaRPr lang="cs-CZ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Přispěvatelé Wikipedie,</a:t>
            </a:r>
            <a:r>
              <a:rPr lang="cs-CZ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cs-CZ" b="0" i="1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Unified</a:t>
            </a:r>
            <a:r>
              <a:rPr lang="cs-CZ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i="1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Extensible</a:t>
            </a:r>
            <a:r>
              <a:rPr lang="cs-CZ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Firmware Interface</a:t>
            </a:r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[online], Wikipedie: Otevřená encyklopedie, c2022, Datum poslední revize 2. 11. 2022, 17:11 UTC, [citováno 12. 09. 2023] </a:t>
            </a:r>
            <a:r>
              <a:rPr lang="cs-CZ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4"/>
              </a:rPr>
              <a:t>https://cs.wikipedia.org/w/index.php?title=Unified_Extensible_Firmware_Interface&amp;oldid=21826444</a:t>
            </a:r>
            <a:endParaRPr lang="cs-CZ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Přispěvatelé Wikipedie,</a:t>
            </a:r>
            <a:r>
              <a:rPr lang="cs-CZ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BIOS</a:t>
            </a:r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[online], Wikipedie: Otevřená encyklopedie, c2023, Datum poslední revize 16. 08. 2023, 23:42 UTC, [citováno 12. 09. 2023] </a:t>
            </a:r>
            <a:r>
              <a:rPr lang="cs-CZ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5"/>
              </a:rPr>
              <a:t>https://cs.wikipedia.org/w/index.php?title=BIOS&amp;oldid=23069145</a:t>
            </a:r>
            <a:endParaRPr lang="cs-CZ" b="0" i="0" u="none" strike="noStrike" dirty="0">
              <a:solidFill>
                <a:srgbClr val="3366CC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Přispěvatelé Wikipedie,</a:t>
            </a:r>
            <a:r>
              <a:rPr lang="cs-CZ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cs-CZ" b="0" i="1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Unified</a:t>
            </a:r>
            <a:r>
              <a:rPr lang="cs-CZ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i="1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Extensible</a:t>
            </a:r>
            <a:r>
              <a:rPr lang="cs-CZ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Firmware Interface</a:t>
            </a:r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[online], Wikipedie: Otevřená encyklopedie, c2022, Datum poslední revize 2. 11. 2022, 17:11 UTC, [citováno 12. 09. 2023] </a:t>
            </a:r>
            <a:r>
              <a:rPr lang="cs-CZ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4"/>
              </a:rPr>
              <a:t>https://cs.wikipedia.org/w/index.php?title=Unified_Extensible_Firmware_Interface&amp;oldid=21826444</a:t>
            </a:r>
            <a:endParaRPr lang="cs-CZ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endParaRPr lang="cs-CZ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9030580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zeta">
  <a:themeElements>
    <a:clrScheme name="Faz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z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z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58</TotalTime>
  <Words>505</Words>
  <Application>Microsoft Office PowerPoint</Application>
  <PresentationFormat>Širokoúhlá obrazovka</PresentationFormat>
  <Paragraphs>51</Paragraphs>
  <Slides>12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Fazeta</vt:lpstr>
      <vt:lpstr>BOOTOVÁNÍ OPERAČNÍCH SYSTÉMŮ</vt:lpstr>
      <vt:lpstr>Bootování (booting)</vt:lpstr>
      <vt:lpstr>BIOS</vt:lpstr>
      <vt:lpstr>UEFI</vt:lpstr>
      <vt:lpstr>Secure boot</vt:lpstr>
      <vt:lpstr>GTP</vt:lpstr>
      <vt:lpstr>Multi-boot</vt:lpstr>
      <vt:lpstr>Windows boot manager</vt:lpstr>
      <vt:lpstr>GRUB</vt:lpstr>
      <vt:lpstr>LILO</vt:lpstr>
      <vt:lpstr>XOSL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BOOTOVÁNÍ OPERAČNÍCH SYSTÉMŮ</dc:title>
  <dc:creator>2.D Novan Martin</dc:creator>
  <cp:lastModifiedBy>2.D Novan Martin</cp:lastModifiedBy>
  <cp:revision>2</cp:revision>
  <dcterms:created xsi:type="dcterms:W3CDTF">2023-09-12T08:07:20Z</dcterms:created>
  <dcterms:modified xsi:type="dcterms:W3CDTF">2023-09-12T09:05:54Z</dcterms:modified>
</cp:coreProperties>
</file>