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5" r:id="rId10"/>
    <p:sldId id="27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011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3799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990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9876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2257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0470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225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2462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5555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6189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89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103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9325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5770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291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5286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D4C66-5671-42A1-8F75-0F9D70342202}" type="datetimeFigureOut">
              <a:rPr lang="cs-CZ" smtClean="0"/>
              <a:t>19.09.2023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709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C95B1F-CF5A-7100-06CC-B0EF93C0D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dirty="0"/>
              <a:t>Virtualizace</a:t>
            </a:r>
            <a:br>
              <a:rPr lang="cs-CZ" dirty="0"/>
            </a:br>
            <a:r>
              <a:rPr lang="cs-CZ" dirty="0"/>
              <a:t>ve firmách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BB79114-2F2A-C9B5-9FEE-7DB68E23A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5064" y="5761101"/>
            <a:ext cx="7766936" cy="1096899"/>
          </a:xfrm>
        </p:spPr>
        <p:txBody>
          <a:bodyPr>
            <a:normAutofit fontScale="85000" lnSpcReduction="20000"/>
          </a:bodyPr>
          <a:lstStyle/>
          <a:p>
            <a:r>
              <a:rPr lang="cs-CZ" sz="2400" dirty="0"/>
              <a:t>Martin Novan 2.D</a:t>
            </a:r>
          </a:p>
          <a:p>
            <a:r>
              <a:rPr lang="cs-CZ" sz="2400" dirty="0"/>
              <a:t>Střední průmyslová škola</a:t>
            </a:r>
          </a:p>
          <a:p>
            <a:r>
              <a:rPr lang="cs-CZ" sz="2400" dirty="0"/>
              <a:t>Česká Lípa, Havlíčkova 426, příspěvková organizace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859765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DFF82E-E76B-72B4-B4DA-4CAD1394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cs-CZ" dirty="0"/>
              <a:t>Virtualizace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9CE469-790A-C8C3-3DC3-FDD2EDA0F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r>
              <a:rPr lang="cs-CZ" dirty="0"/>
              <a:t>Technologie, která umožňuje vytvořit virtuální verzi fyzického hardwaru, softwaru nebo síťových zdrojů.</a:t>
            </a:r>
          </a:p>
          <a:p>
            <a:r>
              <a:rPr lang="pl-PL" dirty="0"/>
              <a:t>Funguje jako abstrakce nebo izolace nad fyzickými zdroji</a:t>
            </a:r>
          </a:p>
          <a:p>
            <a:r>
              <a:rPr lang="cs-CZ" dirty="0"/>
              <a:t>Umožňuje efektivněji využívat, sdílet a spravovat zdroje</a:t>
            </a:r>
          </a:p>
          <a:p>
            <a:r>
              <a:rPr lang="cs-CZ" dirty="0"/>
              <a:t>Hyper-V 2012R2 ,</a:t>
            </a:r>
            <a:br>
              <a:rPr lang="cs-CZ" dirty="0"/>
            </a:br>
            <a:r>
              <a:rPr lang="cs-CZ" dirty="0" err="1"/>
              <a:t>VMware</a:t>
            </a:r>
            <a:r>
              <a:rPr lang="cs-CZ" dirty="0"/>
              <a:t> </a:t>
            </a:r>
            <a:r>
              <a:rPr lang="cs-CZ" dirty="0" err="1"/>
              <a:t>vSphere</a:t>
            </a:r>
            <a:r>
              <a:rPr lang="cs-CZ" dirty="0"/>
              <a:t> 5.5, </a:t>
            </a:r>
            <a:br>
              <a:rPr lang="cs-CZ" dirty="0"/>
            </a:br>
            <a:r>
              <a:rPr lang="cs-CZ" dirty="0" err="1"/>
              <a:t>XenServer</a:t>
            </a:r>
            <a:r>
              <a:rPr lang="cs-CZ" dirty="0"/>
              <a:t> 6.2</a:t>
            </a:r>
          </a:p>
          <a:p>
            <a:endParaRPr lang="cs-CZ" dirty="0"/>
          </a:p>
        </p:txBody>
      </p:sp>
      <p:pic>
        <p:nvPicPr>
          <p:cNvPr id="1026" name="Picture 2" descr="virtual1 1">
            <a:extLst>
              <a:ext uri="{FF2B5EF4-FFF2-40B4-BE49-F238E27FC236}">
                <a16:creationId xmlns:a16="http://schemas.microsoft.com/office/drawing/2014/main" id="{38B5F9B2-D0DA-2FA2-3CB5-0D9C03586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015" y="2261507"/>
            <a:ext cx="5915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68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EE22BF-BD11-2C65-1797-50D465E8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Výhody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88F4BA-7447-F01F-036D-CA4D3569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Kompletní využití HW</a:t>
            </a:r>
          </a:p>
          <a:p>
            <a:r>
              <a:rPr lang="cs-CZ" dirty="0"/>
              <a:t>Vyšší bezpečnost</a:t>
            </a:r>
          </a:p>
          <a:p>
            <a:r>
              <a:rPr lang="cs-CZ" dirty="0"/>
              <a:t>Snadná údržba</a:t>
            </a:r>
          </a:p>
          <a:p>
            <a:r>
              <a:rPr lang="cs-CZ" dirty="0"/>
              <a:t>Snížení nákladů</a:t>
            </a:r>
          </a:p>
          <a:p>
            <a:r>
              <a:rPr lang="cs-CZ" dirty="0" err="1"/>
              <a:t>Flexiblita</a:t>
            </a:r>
            <a:endParaRPr lang="cs-CZ" dirty="0"/>
          </a:p>
          <a:p>
            <a:r>
              <a:rPr lang="cs-CZ" dirty="0"/>
              <a:t>Rychlá obnova a záloha</a:t>
            </a:r>
          </a:p>
          <a:p>
            <a:r>
              <a:rPr lang="cs-CZ" dirty="0"/>
              <a:t>Centralizovaná správa</a:t>
            </a:r>
          </a:p>
          <a:p>
            <a:r>
              <a:rPr lang="cs-CZ" dirty="0"/>
              <a:t>Ekologické výhody</a:t>
            </a:r>
          </a:p>
        </p:txBody>
      </p:sp>
    </p:spTree>
    <p:extLst>
      <p:ext uri="{BB962C8B-B14F-4D97-AF65-F5344CB8AC3E}">
        <p14:creationId xmlns:p14="http://schemas.microsoft.com/office/powerpoint/2010/main" val="3613453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FABEC0-A83A-612F-E7EC-3E2398D5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Nevýhody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522C72-113C-D5B9-9A33-82D6E7BD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Náročnost na správu</a:t>
            </a:r>
          </a:p>
          <a:p>
            <a:r>
              <a:rPr lang="cs-CZ" dirty="0"/>
              <a:t>Zvýšená zátěž na síť</a:t>
            </a:r>
          </a:p>
          <a:p>
            <a:r>
              <a:rPr lang="cs-CZ" dirty="0"/>
              <a:t>Riziko jediného bodu selhání</a:t>
            </a:r>
          </a:p>
          <a:p>
            <a:r>
              <a:rPr lang="cs-CZ" dirty="0"/>
              <a:t>Výkonová izolace</a:t>
            </a:r>
          </a:p>
          <a:p>
            <a:r>
              <a:rPr lang="cs-CZ" dirty="0"/>
              <a:t>Bezpečnostní rizika</a:t>
            </a:r>
          </a:p>
          <a:p>
            <a:r>
              <a:rPr lang="cs-CZ" dirty="0"/>
              <a:t>Výzvy s licenčním shodou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8250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EDFBB4-5751-AD9D-581D-58CA657E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 serverů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4BD0AE-5EC0-1C1C-57EE-E297E3D6D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Jeden z nejběžnějších použití ve firmách</a:t>
            </a:r>
          </a:p>
          <a:p>
            <a:r>
              <a:rPr lang="cs-CZ" dirty="0"/>
              <a:t>Umožňuje běžet několik virtuálních serverů </a:t>
            </a:r>
            <a:br>
              <a:rPr lang="cs-CZ" dirty="0"/>
            </a:br>
            <a:r>
              <a:rPr lang="cs-CZ" dirty="0"/>
              <a:t>na jednom fyzickém</a:t>
            </a:r>
          </a:p>
          <a:p>
            <a:r>
              <a:rPr lang="cs-CZ" dirty="0"/>
              <a:t>Každý server má vlastní OS a aplikace</a:t>
            </a:r>
          </a:p>
          <a:p>
            <a:r>
              <a:rPr lang="cs-CZ" dirty="0"/>
              <a:t>Sdílí fyzické zdroje, jako jsou procesory,</a:t>
            </a:r>
            <a:br>
              <a:rPr lang="cs-CZ" dirty="0"/>
            </a:br>
            <a:r>
              <a:rPr lang="cs-CZ" dirty="0"/>
              <a:t>paměť a úložiště</a:t>
            </a:r>
          </a:p>
        </p:txBody>
      </p:sp>
      <p:pic>
        <p:nvPicPr>
          <p:cNvPr id="2052" name="Picture 4" descr="Virtualizace serverů - Schindler Systems, s.r.o.">
            <a:extLst>
              <a:ext uri="{FF2B5EF4-FFF2-40B4-BE49-F238E27FC236}">
                <a16:creationId xmlns:a16="http://schemas.microsoft.com/office/drawing/2014/main" id="{91C30436-4A7E-8759-D692-A509C25F3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1800225"/>
            <a:ext cx="409575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37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634819-B028-B731-6653-B85EC241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 desktopů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F1766F-72EA-1157-186C-C8E8E375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vytvářet virtuální pracovní stanice </a:t>
            </a:r>
            <a:br>
              <a:rPr lang="cs-CZ" dirty="0"/>
            </a:br>
            <a:r>
              <a:rPr lang="cs-CZ" dirty="0"/>
              <a:t>pro zaměstnance</a:t>
            </a:r>
          </a:p>
          <a:p>
            <a:r>
              <a:rPr lang="cs-CZ" dirty="0"/>
              <a:t>Uživatelé mohou přistupovat ke svým </a:t>
            </a:r>
            <a:br>
              <a:rPr lang="cs-CZ" dirty="0"/>
            </a:br>
            <a:r>
              <a:rPr lang="cs-CZ" dirty="0"/>
              <a:t>virtuálním desktopům z libovolného </a:t>
            </a:r>
            <a:br>
              <a:rPr lang="cs-CZ" dirty="0"/>
            </a:br>
            <a:r>
              <a:rPr lang="cs-CZ" dirty="0"/>
              <a:t>zařízení s internetovým připojením</a:t>
            </a:r>
          </a:p>
          <a:p>
            <a:r>
              <a:rPr lang="cs-CZ" u="sng" dirty="0"/>
              <a:t>U</a:t>
            </a:r>
            <a:r>
              <a:rPr lang="cs-CZ" dirty="0"/>
              <a:t>snadňuje správu desktopů, zvyšuje bezpečnost </a:t>
            </a:r>
            <a:br>
              <a:rPr lang="cs-CZ" dirty="0"/>
            </a:br>
            <a:r>
              <a:rPr lang="cs-CZ" dirty="0"/>
              <a:t>a umožňuje zaměstnancům pracovat </a:t>
            </a:r>
            <a:br>
              <a:rPr lang="cs-CZ" dirty="0"/>
            </a:br>
            <a:r>
              <a:rPr lang="cs-CZ" dirty="0"/>
              <a:t>na svých preferovaných zařízeních.</a:t>
            </a:r>
          </a:p>
        </p:txBody>
      </p:sp>
      <p:pic>
        <p:nvPicPr>
          <p:cNvPr id="3074" name="Picture 2" descr="Virtualizace ve firmě – VK CREATIVE s.r.o.">
            <a:extLst>
              <a:ext uri="{FF2B5EF4-FFF2-40B4-BE49-F238E27FC236}">
                <a16:creationId xmlns:a16="http://schemas.microsoft.com/office/drawing/2014/main" id="{5140B878-9718-2AF0-5140-6EBA95C0D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00250"/>
            <a:ext cx="5413723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21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3F1183-76ED-3EFA-AFE0-63EEB8D2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 síťových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BE721F-B1EE-9454-EF90-945BA236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vytvářet virtuální sítě a služby</a:t>
            </a:r>
          </a:p>
          <a:p>
            <a:r>
              <a:rPr lang="cs-CZ" dirty="0"/>
              <a:t>Zahrnuje virtualizaci směrovačů, přepínačů, </a:t>
            </a:r>
            <a:br>
              <a:rPr lang="cs-CZ" dirty="0"/>
            </a:br>
            <a:r>
              <a:rPr lang="cs-CZ" dirty="0" err="1"/>
              <a:t>firewalů</a:t>
            </a:r>
            <a:r>
              <a:rPr lang="cs-CZ" dirty="0"/>
              <a:t> a dalších síťových prvků</a:t>
            </a:r>
          </a:p>
          <a:p>
            <a:r>
              <a:rPr lang="cs-CZ" dirty="0"/>
              <a:t>Firmy mohou snadno rozšiřovat a spravovat </a:t>
            </a:r>
            <a:br>
              <a:rPr lang="cs-CZ" dirty="0"/>
            </a:br>
            <a:r>
              <a:rPr lang="cs-CZ" dirty="0"/>
              <a:t>svou síťovou infrastrukturu</a:t>
            </a:r>
          </a:p>
          <a:p>
            <a:endParaRPr lang="cs-CZ" dirty="0"/>
          </a:p>
        </p:txBody>
      </p:sp>
      <p:pic>
        <p:nvPicPr>
          <p:cNvPr id="4098" name="Picture 2" descr="Virtualizace sítí – softwarově definované sítě">
            <a:extLst>
              <a:ext uri="{FF2B5EF4-FFF2-40B4-BE49-F238E27FC236}">
                <a16:creationId xmlns:a16="http://schemas.microsoft.com/office/drawing/2014/main" id="{157CA6EB-3A7C-F896-8DD9-083FDD7E4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599" y="2932113"/>
            <a:ext cx="5214553" cy="361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744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D11AD0-ACE7-5FAF-7163-00190938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 úložišť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6DE75C-679D-511A-6C5B-F95815F5A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efektivněji spravovat </a:t>
            </a:r>
            <a:br>
              <a:rPr lang="cs-CZ" dirty="0"/>
            </a:br>
            <a:r>
              <a:rPr lang="cs-CZ" dirty="0"/>
              <a:t>a využívat </a:t>
            </a:r>
            <a:r>
              <a:rPr lang="cs-CZ" dirty="0" err="1"/>
              <a:t>úložištní</a:t>
            </a:r>
            <a:r>
              <a:rPr lang="cs-CZ" dirty="0"/>
              <a:t> kapacitu</a:t>
            </a:r>
          </a:p>
          <a:p>
            <a:r>
              <a:rPr lang="cs-CZ" dirty="0"/>
              <a:t>Zahrnuje vytváření virtuálních </a:t>
            </a:r>
            <a:br>
              <a:rPr lang="cs-CZ" dirty="0"/>
            </a:br>
            <a:r>
              <a:rPr lang="cs-CZ" dirty="0"/>
              <a:t>disků a úložišť, které lze snadno </a:t>
            </a:r>
            <a:br>
              <a:rPr lang="cs-CZ" dirty="0"/>
            </a:br>
            <a:r>
              <a:rPr lang="cs-CZ" dirty="0"/>
              <a:t>přesouvat a škálovat podle potřeby</a:t>
            </a:r>
          </a:p>
        </p:txBody>
      </p:sp>
      <p:pic>
        <p:nvPicPr>
          <p:cNvPr id="5122" name="Picture 2" descr="Úložiště pro virtualizaci | Certifikace pro VMware, Hyper-V a Citrix | QNAP">
            <a:extLst>
              <a:ext uri="{FF2B5EF4-FFF2-40B4-BE49-F238E27FC236}">
                <a16:creationId xmlns:a16="http://schemas.microsoft.com/office/drawing/2014/main" id="{44463AFE-FA45-0433-85D9-E1782DEB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66" y="2160589"/>
            <a:ext cx="67818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62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61BEF5-B9E9-9DB7-0D98-24CF776A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Virtualizace aplikací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0AC1CA-8AB4-9EBB-0767-05E7EC88B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izolovat aplikace od </a:t>
            </a:r>
            <a:br>
              <a:rPr lang="cs-CZ" dirty="0"/>
            </a:br>
            <a:r>
              <a:rPr lang="cs-CZ" dirty="0"/>
              <a:t>operačního systému a dalších aplikací</a:t>
            </a:r>
          </a:p>
          <a:p>
            <a:r>
              <a:rPr lang="cs-CZ" dirty="0"/>
              <a:t>Může pomoci při zajišťování bezpečnosti</a:t>
            </a:r>
            <a:br>
              <a:rPr lang="cs-CZ" dirty="0"/>
            </a:br>
            <a:r>
              <a:rPr lang="cs-CZ" dirty="0"/>
              <a:t>a snadnějším spravování aplikací.</a:t>
            </a:r>
          </a:p>
        </p:txBody>
      </p:sp>
      <p:pic>
        <p:nvPicPr>
          <p:cNvPr id="6146" name="Picture 2" descr="Potenciál využití virtualizace aplikací a desktopů v cloudovém prostředí">
            <a:extLst>
              <a:ext uri="{FF2B5EF4-FFF2-40B4-BE49-F238E27FC236}">
                <a16:creationId xmlns:a16="http://schemas.microsoft.com/office/drawing/2014/main" id="{1931A333-0627-473C-221A-316F04689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253" y="3737901"/>
            <a:ext cx="71628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40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6B6C4D-416C-B024-BF42-DE5DBC19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Cloudová virtualizace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72D0E1-54C6-7E77-ABD9-291E0DE3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Mnoho firem využívá cloudové služby,</a:t>
            </a:r>
            <a:br>
              <a:rPr lang="cs-CZ" dirty="0"/>
            </a:br>
            <a:r>
              <a:rPr lang="cs-CZ" dirty="0"/>
              <a:t>které jsou založeny na virtualizaci</a:t>
            </a:r>
          </a:p>
          <a:p>
            <a:r>
              <a:rPr lang="cs-CZ" dirty="0"/>
              <a:t>P</a:t>
            </a:r>
            <a:r>
              <a:rPr lang="cs-CZ"/>
              <a:t>oskytovatelé </a:t>
            </a:r>
            <a:r>
              <a:rPr lang="cs-CZ" dirty="0"/>
              <a:t>virtuálně sdílejí hardware </a:t>
            </a:r>
            <a:br>
              <a:rPr lang="cs-CZ" dirty="0"/>
            </a:br>
            <a:r>
              <a:rPr lang="cs-CZ" dirty="0"/>
              <a:t>a zdroje mezi různými klienty</a:t>
            </a:r>
          </a:p>
          <a:p>
            <a:r>
              <a:rPr lang="cs-CZ" dirty="0"/>
              <a:t>Firmám umožňuje flexibilně škálovat </a:t>
            </a:r>
            <a:br>
              <a:rPr lang="cs-CZ" dirty="0"/>
            </a:br>
            <a:r>
              <a:rPr lang="cs-CZ" dirty="0"/>
              <a:t>své služby podle potřeby a platit </a:t>
            </a:r>
            <a:br>
              <a:rPr lang="cs-CZ" dirty="0"/>
            </a:br>
            <a:r>
              <a:rPr lang="cs-CZ" dirty="0"/>
              <a:t>pouze za používané zdroje.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490C702-D51D-EBE9-7D6B-AE5C9F456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475" y="2096741"/>
            <a:ext cx="4976291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53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72A269-235D-B310-74E9-AFCD74DC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26D77C-3D18-C162-C8B4-F301E96C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https://www.systemonline.cz/virtualizace/moznosti-virtualizace-prinosy-virtualizace-serveru.htm</a:t>
            </a:r>
          </a:p>
        </p:txBody>
      </p:sp>
    </p:spTree>
    <p:extLst>
      <p:ext uri="{BB962C8B-B14F-4D97-AF65-F5344CB8AC3E}">
        <p14:creationId xmlns:p14="http://schemas.microsoft.com/office/powerpoint/2010/main" val="190305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316</Words>
  <Application>Microsoft Office PowerPoint</Application>
  <PresentationFormat>Širokoúhlá obrazovka</PresentationFormat>
  <Paragraphs>50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Fazeta</vt:lpstr>
      <vt:lpstr>Virtualizace ve firmách</vt:lpstr>
      <vt:lpstr>Virtualizace</vt:lpstr>
      <vt:lpstr>Výhody</vt:lpstr>
      <vt:lpstr>Nevýhody</vt:lpstr>
      <vt:lpstr>Virtualizace serverů</vt:lpstr>
      <vt:lpstr>Virtualizace desktopů</vt:lpstr>
      <vt:lpstr>Virtualizace síťových zdrojů</vt:lpstr>
      <vt:lpstr>Virtualizace úložišť</vt:lpstr>
      <vt:lpstr>Virtualizace aplikací</vt:lpstr>
      <vt:lpstr>Cloudová virtualizace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BOOTOVÁNÍ OPERAČNÍCH SYSTÉMŮ</dc:title>
  <dc:creator>2.D Novan Martin</dc:creator>
  <cp:lastModifiedBy>2.D Novan Martin</cp:lastModifiedBy>
  <cp:revision>12</cp:revision>
  <dcterms:created xsi:type="dcterms:W3CDTF">2023-09-12T08:07:20Z</dcterms:created>
  <dcterms:modified xsi:type="dcterms:W3CDTF">2023-09-19T09:14:52Z</dcterms:modified>
</cp:coreProperties>
</file>