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0EAFA5-30DC-45AB-BF64-9F226CDC5005}" type="datetimeFigureOut">
              <a:rPr lang="cs-CZ" smtClean="0"/>
              <a:t>24.11.2024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A7089-60F5-4389-BF1F-E92CE5D2D76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83636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b="1" dirty="0"/>
              <a:t>Chyby při přenosu</a:t>
            </a:r>
            <a:r>
              <a:rPr lang="cs-CZ" dirty="0"/>
              <a:t> (šum, rušení).</a:t>
            </a:r>
            <a:r>
              <a:rPr lang="cs-CZ" b="1" dirty="0"/>
              <a:t>Hardwarové selhání</a:t>
            </a:r>
            <a:r>
              <a:rPr lang="cs-CZ" dirty="0"/>
              <a:t> (poškozený disk).</a:t>
            </a:r>
            <a:r>
              <a:rPr lang="cs-CZ" b="1" dirty="0"/>
              <a:t>Softwarové </a:t>
            </a:r>
            <a:r>
              <a:rPr lang="cs-CZ" b="1" dirty="0" err="1"/>
              <a:t>chyby</a:t>
            </a:r>
            <a:r>
              <a:rPr lang="cs-CZ" dirty="0" err="1"/>
              <a:t>.</a:t>
            </a:r>
            <a:r>
              <a:rPr lang="cs-CZ" b="1" dirty="0" err="1"/>
              <a:t>Neoprávněné</a:t>
            </a:r>
            <a:r>
              <a:rPr lang="cs-CZ" b="1" dirty="0"/>
              <a:t> zásahy</a:t>
            </a:r>
            <a:r>
              <a:rPr lang="cs-CZ" dirty="0"/>
              <a:t> (malware, hackeři).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A7089-60F5-4389-BF1F-E92CE5D2D763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75854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Zajištění integrity </a:t>
            </a:r>
            <a:r>
              <a:rPr lang="cs-CZ" b="1" dirty="0" err="1"/>
              <a:t>dat</a:t>
            </a:r>
            <a:r>
              <a:rPr lang="cs-CZ" dirty="0" err="1"/>
              <a:t>:</a:t>
            </a:r>
            <a:r>
              <a:rPr lang="cs-CZ" b="1" dirty="0" err="1"/>
              <a:t>Detekce</a:t>
            </a:r>
            <a:r>
              <a:rPr lang="cs-CZ" b="1" dirty="0"/>
              <a:t> chyb</a:t>
            </a:r>
            <a:r>
              <a:rPr lang="cs-CZ" dirty="0"/>
              <a:t> při přenosu nebo ukládání.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Ochrana před neoprávněnými změnami</a:t>
            </a:r>
            <a:r>
              <a:rPr lang="cs-CZ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Bezpečnostní </a:t>
            </a:r>
            <a:r>
              <a:rPr lang="cs-CZ" b="1" dirty="0" err="1"/>
              <a:t>aplikace</a:t>
            </a:r>
            <a:r>
              <a:rPr lang="cs-CZ" dirty="0" err="1"/>
              <a:t>:</a:t>
            </a:r>
            <a:r>
              <a:rPr lang="cs-CZ" b="1" dirty="0" err="1"/>
              <a:t>Ukládání</a:t>
            </a:r>
            <a:r>
              <a:rPr lang="cs-CZ" b="1" dirty="0"/>
              <a:t> hesel</a:t>
            </a:r>
            <a:r>
              <a:rPr lang="cs-CZ" dirty="0"/>
              <a:t> v hashované podobě.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Digitální podpisy</a:t>
            </a:r>
            <a:r>
              <a:rPr lang="cs-CZ" dirty="0"/>
              <a:t> a </a:t>
            </a:r>
            <a:r>
              <a:rPr lang="cs-CZ" b="1" dirty="0"/>
              <a:t>certifikáty</a:t>
            </a:r>
            <a:r>
              <a:rPr lang="cs-CZ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Datové </a:t>
            </a:r>
            <a:r>
              <a:rPr lang="cs-CZ" b="1" dirty="0" err="1"/>
              <a:t>struktury</a:t>
            </a:r>
            <a:r>
              <a:rPr lang="cs-CZ" dirty="0" err="1"/>
              <a:t>:</a:t>
            </a:r>
            <a:r>
              <a:rPr lang="cs-CZ" b="1" dirty="0" err="1"/>
              <a:t>Hashovací</a:t>
            </a:r>
            <a:r>
              <a:rPr lang="cs-CZ" b="1" dirty="0"/>
              <a:t> tabulky</a:t>
            </a:r>
            <a:r>
              <a:rPr lang="cs-CZ" dirty="0"/>
              <a:t> pro rychlé vyhledávání.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A7089-60F5-4389-BF1F-E92CE5D2D763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53276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Vysvětlení kódu</a:t>
            </a:r>
            <a:r>
              <a:rPr lang="cs-CZ" dirty="0"/>
              <a:t>:</a:t>
            </a:r>
            <a:r>
              <a:rPr lang="cs-CZ" b="1" dirty="0"/>
              <a:t>binascii.crc32(data)</a:t>
            </a:r>
            <a:r>
              <a:rPr lang="cs-CZ" dirty="0"/>
              <a:t>: Vypočítá CRC32 z daných dat.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Formátování {</a:t>
            </a:r>
            <a:r>
              <a:rPr lang="cs-CZ" b="1" dirty="0" err="1"/>
              <a:t>crc_value</a:t>
            </a:r>
            <a:r>
              <a:rPr lang="cs-CZ" b="1" dirty="0"/>
              <a:t>:#010x}</a:t>
            </a:r>
            <a:r>
              <a:rPr lang="cs-CZ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b="1" dirty="0"/>
              <a:t>#</a:t>
            </a:r>
            <a:r>
              <a:rPr lang="cs-CZ" dirty="0"/>
              <a:t>: Přidá předponu 0x pro hexadecimální čísla.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b="1" dirty="0"/>
              <a:t>010</a:t>
            </a:r>
            <a:r>
              <a:rPr lang="cs-CZ" dirty="0"/>
              <a:t>: Celková šířka výstupu je 10 znaků (včetně 0x).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b="1" dirty="0"/>
              <a:t>x</a:t>
            </a:r>
            <a:r>
              <a:rPr lang="cs-CZ" dirty="0"/>
              <a:t>: Formátování do malých hexadecimálních znaků.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Důvod </a:t>
            </a:r>
            <a:r>
              <a:rPr lang="cs-CZ" b="1" dirty="0" err="1"/>
              <a:t>formátování</a:t>
            </a:r>
            <a:r>
              <a:rPr lang="cs-CZ" dirty="0" err="1"/>
              <a:t>:Zobrazení</a:t>
            </a:r>
            <a:r>
              <a:rPr lang="cs-CZ" dirty="0"/>
              <a:t> CRC hodnoty v </a:t>
            </a:r>
            <a:r>
              <a:rPr lang="cs-CZ" b="1" dirty="0"/>
              <a:t>pevné délce</a:t>
            </a:r>
            <a:r>
              <a:rPr lang="cs-CZ" dirty="0"/>
              <a:t> a </a:t>
            </a:r>
            <a:r>
              <a:rPr lang="cs-CZ" b="1" dirty="0"/>
              <a:t>hexadecimálním tvaru</a:t>
            </a:r>
            <a:r>
              <a:rPr lang="cs-CZ" dirty="0"/>
              <a:t> pro snadnější porovnání.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A7089-60F5-4389-BF1F-E92CE5D2D763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9918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A7089-60F5-4389-BF1F-E92CE5D2D763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55427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4797C-08A5-4A2E-4090-D69D349B0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1F03FFB6-F192-D414-C254-93926C99B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B96A9E06-0EE1-6B13-C4E3-A73B8D94B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6132A4C-A6D1-2957-8C23-09F0D31A54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A7089-60F5-4389-BF1F-E92CE5D2D763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0724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E5773-7A12-ACD8-73FF-E69DF93D3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BA2CA2F5-0EB1-B636-425F-F81A1B7E4A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C734C081-B865-8743-112B-4759A091B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595CAA6-84DD-44E4-1C75-0AB10525E3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A7089-60F5-4389-BF1F-E92CE5D2D763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342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1DF6CA3-0250-CF49-676D-F96982CEC5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049DB96-82ED-A360-787B-2F7E502B08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C9025DB-D946-AE0C-B930-BDC86D9B6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6A7A3-99AD-4D01-BE2D-0B6B0D3AEA07}" type="datetimeFigureOut">
              <a:rPr lang="cs-CZ" smtClean="0"/>
              <a:t>24.11.2024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9AF1B4C-ACF5-3980-4553-2B22884B6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9259A93-7810-15D0-929E-B305BD3B2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4B77-EFC3-4386-9648-EC528C5FA84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93875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1CDD18-06FD-6B71-8E18-22E7C1112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B7020E8-ACCD-AB80-FFC9-1C489DB3C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DD3D83A-B18B-8186-C25B-C447FB0C7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6A7A3-99AD-4D01-BE2D-0B6B0D3AEA07}" type="datetimeFigureOut">
              <a:rPr lang="cs-CZ" smtClean="0"/>
              <a:t>24.11.2024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D6CA067-D011-4620-E5EA-26DA0A212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73388CF-CB38-6C03-9B41-6509857AC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4B77-EFC3-4386-9648-EC528C5FA84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47128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6357C0-9FAD-94DF-50E9-0AAA7CF30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C884DB4-43A9-F3EC-CE1C-7468264FA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C7BB280-1CA4-6D7E-C50A-62EC8292B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6A7A3-99AD-4D01-BE2D-0B6B0D3AEA07}" type="datetimeFigureOut">
              <a:rPr lang="cs-CZ" smtClean="0"/>
              <a:t>24.11.2024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9EBB029-7531-8CE6-8EFD-E6CAA7C3C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C028793-B235-7960-A11F-6FD6495C5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4B77-EFC3-4386-9648-EC528C5FA84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9249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F2A0BB-A0CF-1A05-C0D2-A77C612DA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1988DA0-9337-26B0-CB41-5EBB5C123D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E1EEC74-384A-87B7-6B32-7EC4C3879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B8DEE61-A86E-7E6D-E757-34FF2C88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6A7A3-99AD-4D01-BE2D-0B6B0D3AEA07}" type="datetimeFigureOut">
              <a:rPr lang="cs-CZ" smtClean="0"/>
              <a:t>24.11.2024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A6A2D7F-9D6D-1011-298F-7146CD724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B6E197A-B295-F5FE-951D-196868DCF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4B77-EFC3-4386-9648-EC528C5FA84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73557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F618614-25E4-A899-DF64-2D695ABE3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53862C6-CC85-A38F-7688-7729C16F2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7E0A8CF-6B30-BB89-9A0B-5A8DE1E1C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D340F55-359C-8423-30A8-78790BF67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49F5C176-ABA3-2AA4-72A5-7F698BF3F7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BF34551A-C069-6DAC-2041-C824DA82E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6A7A3-99AD-4D01-BE2D-0B6B0D3AEA07}" type="datetimeFigureOut">
              <a:rPr lang="cs-CZ" smtClean="0"/>
              <a:t>24.11.2024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EE27464-78CE-B27F-65D9-6E4B87ADE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EB859A38-CC23-091F-06E5-5F8A6A262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4B77-EFC3-4386-9648-EC528C5FA84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52494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72936A4-3651-0216-0A10-2EBDEFC10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4F739AC0-A8A4-B9F0-07BD-E3143AB6D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6A7A3-99AD-4D01-BE2D-0B6B0D3AEA07}" type="datetimeFigureOut">
              <a:rPr lang="cs-CZ" smtClean="0"/>
              <a:t>24.11.2024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6380A837-CA06-B561-C101-724A72F7B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AF627A68-8EA9-8508-330E-61C275AA2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4B77-EFC3-4386-9648-EC528C5FA84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61551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E50F897B-E4E6-5A84-211E-461CAC7BE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6A7A3-99AD-4D01-BE2D-0B6B0D3AEA07}" type="datetimeFigureOut">
              <a:rPr lang="cs-CZ" smtClean="0"/>
              <a:t>24.11.2024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45C613C8-A683-629A-2BB5-6F264C86B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2BDEA37-9EEB-910C-0302-99BFF413B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4B77-EFC3-4386-9648-EC528C5FA84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97477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03EE1B-9ED7-82BC-D4B5-75D87FD48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FAC4616-302E-0684-E8D4-FD0462A7B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3AB7D2B-57B0-F533-4B2A-4042A57B2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0A90560-2A35-5F7E-8F47-C520E680A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6A7A3-99AD-4D01-BE2D-0B6B0D3AEA07}" type="datetimeFigureOut">
              <a:rPr lang="cs-CZ" smtClean="0"/>
              <a:t>24.11.2024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1E28B6A-B08A-906A-E4A3-486D25A31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2671F16-3613-58E3-60BC-9E791031D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4B77-EFC3-4386-9648-EC528C5FA84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56168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EAAF530-2A54-CED2-FE40-311F54E1A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5E53BBE-4F0E-10B3-AC85-0EFF7F825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CED2A2E-34E2-10B9-44DB-CF72A128A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9E7B93B-B7D5-CA0C-60D6-298EF6D98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6A7A3-99AD-4D01-BE2D-0B6B0D3AEA07}" type="datetimeFigureOut">
              <a:rPr lang="cs-CZ" smtClean="0"/>
              <a:t>24.11.2024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7421EA7-392A-8B82-8CBD-30B62D226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532393F-74E3-90C7-6230-119F99624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4B77-EFC3-4386-9648-EC528C5FA84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23919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EC566D-4F59-307B-F19A-07062EC48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1AC4DCC-760D-3A66-FB53-E87B137C94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CBD9025-4AB7-86B5-92A9-44091F44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6A7A3-99AD-4D01-BE2D-0B6B0D3AEA07}" type="datetimeFigureOut">
              <a:rPr lang="cs-CZ" smtClean="0"/>
              <a:t>24.11.2024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73A5612-E81E-B573-6F15-784AB1DDD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AA29515-D128-4700-B521-33490AD14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4B77-EFC3-4386-9648-EC528C5FA84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56614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2C81093-CD62-AF0D-80D1-B2B032E127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E8F32D4-6C74-B34C-5E4C-C628BE52D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0F4BCFC-8533-0253-10E6-BF83ED78E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6A7A3-99AD-4D01-BE2D-0B6B0D3AEA07}" type="datetimeFigureOut">
              <a:rPr lang="cs-CZ" smtClean="0"/>
              <a:t>24.11.2024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0E10802-7730-9930-FA4F-7C6D28380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C758C6A-5450-79AE-C50E-425B448F2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4B77-EFC3-4386-9648-EC528C5FA84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575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29D55B47-4F7E-A48D-1197-0E88643FE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2589557-ACD3-1E1C-BCD1-77B6AF3C9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D4E4E13-47B3-10C3-66A2-79099C7453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16A7A3-99AD-4D01-BE2D-0B6B0D3AEA07}" type="datetimeFigureOut">
              <a:rPr lang="cs-CZ" smtClean="0"/>
              <a:t>24.11.2024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0327238-C6EE-D323-7A0F-34F987EC7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A5A784F-1B4C-F737-6657-799024C16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934B77-EFC3-4386-9648-EC528C5FA84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68954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4">
              <a:lumMod val="40000"/>
              <a:lumOff val="6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61487B-EA0D-94D9-384F-5A7E015334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Kontrola</a:t>
            </a:r>
            <a:r>
              <a:rPr lang="en-US" dirty="0"/>
              <a:t> integrity </a:t>
            </a:r>
            <a:r>
              <a:rPr lang="en-US" dirty="0" err="1"/>
              <a:t>dat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55938E0-2E29-0132-739B-C473438320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Kontrolní</a:t>
            </a:r>
            <a:r>
              <a:rPr lang="en-US" dirty="0"/>
              <a:t> </a:t>
            </a:r>
            <a:r>
              <a:rPr lang="en-US" dirty="0" err="1"/>
              <a:t>součty</a:t>
            </a:r>
            <a:r>
              <a:rPr lang="en-US" dirty="0"/>
              <a:t>, </a:t>
            </a:r>
            <a:r>
              <a:rPr lang="en-US" dirty="0" err="1"/>
              <a:t>hashování</a:t>
            </a:r>
            <a:endParaRPr lang="cs-CZ" dirty="0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B23E966E-D174-E59D-E0B6-E7303AE480EA}"/>
              </a:ext>
            </a:extLst>
          </p:cNvPr>
          <p:cNvSpPr/>
          <p:nvPr/>
        </p:nvSpPr>
        <p:spPr>
          <a:xfrm>
            <a:off x="176978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34EC0D94-3A0F-072F-7802-D4BDCCB1C571}"/>
              </a:ext>
            </a:extLst>
          </p:cNvPr>
          <p:cNvSpPr/>
          <p:nvPr/>
        </p:nvSpPr>
        <p:spPr>
          <a:xfrm>
            <a:off x="1111043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C0DE999A-75CE-CD66-026C-9698182DD6D5}"/>
              </a:ext>
            </a:extLst>
          </p:cNvPr>
          <p:cNvSpPr/>
          <p:nvPr/>
        </p:nvSpPr>
        <p:spPr>
          <a:xfrm>
            <a:off x="204510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2C2D925D-6B75-6343-98E5-6C4C877FBFA2}"/>
              </a:ext>
            </a:extLst>
          </p:cNvPr>
          <p:cNvSpPr/>
          <p:nvPr/>
        </p:nvSpPr>
        <p:spPr>
          <a:xfrm>
            <a:off x="297917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BE1BE27E-9D69-554E-3F7C-F89872E0EB58}"/>
              </a:ext>
            </a:extLst>
          </p:cNvPr>
          <p:cNvSpPr/>
          <p:nvPr/>
        </p:nvSpPr>
        <p:spPr>
          <a:xfrm>
            <a:off x="391323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0EB01E37-17E8-5EF7-16DA-D6453D98C892}"/>
              </a:ext>
            </a:extLst>
          </p:cNvPr>
          <p:cNvSpPr/>
          <p:nvPr/>
        </p:nvSpPr>
        <p:spPr>
          <a:xfrm>
            <a:off x="484730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BB05035F-F8BC-2458-BB4B-05CD9BD0A00A}"/>
              </a:ext>
            </a:extLst>
          </p:cNvPr>
          <p:cNvSpPr/>
          <p:nvPr/>
        </p:nvSpPr>
        <p:spPr>
          <a:xfrm>
            <a:off x="578136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E3E37B33-8DD8-8889-4C38-3B95F2B2565C}"/>
              </a:ext>
            </a:extLst>
          </p:cNvPr>
          <p:cNvSpPr/>
          <p:nvPr/>
        </p:nvSpPr>
        <p:spPr>
          <a:xfrm>
            <a:off x="6715433" y="6774426"/>
            <a:ext cx="629265" cy="83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C4D2C541-5A7A-BF83-6266-AB87E8FB1081}"/>
              </a:ext>
            </a:extLst>
          </p:cNvPr>
          <p:cNvSpPr/>
          <p:nvPr/>
        </p:nvSpPr>
        <p:spPr>
          <a:xfrm>
            <a:off x="7649498" y="6626942"/>
            <a:ext cx="629265" cy="2310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55C14B23-8DB2-DC11-A7EF-42ABB0A61D90}"/>
              </a:ext>
            </a:extLst>
          </p:cNvPr>
          <p:cNvSpPr/>
          <p:nvPr/>
        </p:nvSpPr>
        <p:spPr>
          <a:xfrm>
            <a:off x="858356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8E44CA50-0E69-747D-9192-0EE01ABAE80B}"/>
              </a:ext>
            </a:extLst>
          </p:cNvPr>
          <p:cNvSpPr/>
          <p:nvPr/>
        </p:nvSpPr>
        <p:spPr>
          <a:xfrm>
            <a:off x="951762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54AEBA71-21E5-1BDE-EEE0-A9819294C297}"/>
              </a:ext>
            </a:extLst>
          </p:cNvPr>
          <p:cNvSpPr/>
          <p:nvPr/>
        </p:nvSpPr>
        <p:spPr>
          <a:xfrm>
            <a:off x="10451693" y="6263148"/>
            <a:ext cx="629265" cy="5948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74DC4EFC-A3D0-B398-A71F-7D2D8AB7F0DF}"/>
              </a:ext>
            </a:extLst>
          </p:cNvPr>
          <p:cNvSpPr/>
          <p:nvPr/>
        </p:nvSpPr>
        <p:spPr>
          <a:xfrm>
            <a:off x="1138575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0254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61487B-EA0D-94D9-384F-5A7E01533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Úvod do integrity dat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55938E0-2E29-0132-739B-C47343832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sz="2000" b="1" dirty="0"/>
              <a:t>Integrita dat </a:t>
            </a:r>
            <a:r>
              <a:rPr lang="cs-CZ" sz="2000" dirty="0"/>
              <a:t>je zajištění, že data jsou </a:t>
            </a:r>
            <a:r>
              <a:rPr lang="cs-CZ" sz="2000" b="1" dirty="0"/>
              <a:t>přesná, úplná </a:t>
            </a:r>
            <a:r>
              <a:rPr lang="cs-CZ" sz="2000" dirty="0"/>
              <a:t>a </a:t>
            </a:r>
            <a:r>
              <a:rPr lang="cs-CZ" sz="2000" b="1" dirty="0"/>
              <a:t>nebyla neoprávněně změněna</a:t>
            </a:r>
            <a:r>
              <a:rPr lang="cs-CZ" sz="2000" dirty="0"/>
              <a:t>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cs-CZ" sz="2000" b="1" dirty="0"/>
              <a:t>Otázka: </a:t>
            </a:r>
            <a:r>
              <a:rPr lang="cs-CZ" sz="2000" i="1" dirty="0"/>
              <a:t>Co může způsobit porušení integrity dat?</a:t>
            </a:r>
            <a:endParaRPr lang="en-US" sz="2000" i="1" dirty="0"/>
          </a:p>
          <a:p>
            <a:r>
              <a:rPr lang="cs-CZ" sz="2000" dirty="0"/>
              <a:t>Chyby při přenosu </a:t>
            </a:r>
            <a:r>
              <a:rPr lang="cs-CZ" sz="2000" i="1" dirty="0"/>
              <a:t>(šum, rušení)</a:t>
            </a:r>
            <a:endParaRPr lang="en-US" sz="2000" i="1" dirty="0"/>
          </a:p>
          <a:p>
            <a:r>
              <a:rPr lang="cs-CZ" sz="2000" dirty="0"/>
              <a:t>Hardwarové selhání </a:t>
            </a:r>
            <a:r>
              <a:rPr lang="cs-CZ" sz="2000" i="1" dirty="0"/>
              <a:t>(poškozený disk)</a:t>
            </a:r>
            <a:endParaRPr lang="en-US" sz="2000" i="1" dirty="0"/>
          </a:p>
          <a:p>
            <a:r>
              <a:rPr lang="cs-CZ" sz="2000" dirty="0"/>
              <a:t>Softwarové chyby</a:t>
            </a:r>
            <a:endParaRPr lang="en-US" sz="2000" dirty="0"/>
          </a:p>
          <a:p>
            <a:r>
              <a:rPr lang="cs-CZ" sz="2000" dirty="0"/>
              <a:t>Neoprávněné zásahy </a:t>
            </a:r>
            <a:r>
              <a:rPr lang="cs-CZ" sz="2000" i="1" dirty="0"/>
              <a:t>(malware, hackeři)</a:t>
            </a:r>
          </a:p>
          <a:p>
            <a:endParaRPr lang="cs-CZ" sz="2000" i="1" dirty="0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B23E966E-D174-E59D-E0B6-E7303AE480EA}"/>
              </a:ext>
            </a:extLst>
          </p:cNvPr>
          <p:cNvSpPr/>
          <p:nvPr/>
        </p:nvSpPr>
        <p:spPr>
          <a:xfrm>
            <a:off x="176978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34EC0D94-3A0F-072F-7802-D4BDCCB1C571}"/>
              </a:ext>
            </a:extLst>
          </p:cNvPr>
          <p:cNvSpPr/>
          <p:nvPr/>
        </p:nvSpPr>
        <p:spPr>
          <a:xfrm>
            <a:off x="1111043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C0DE999A-75CE-CD66-026C-9698182DD6D5}"/>
              </a:ext>
            </a:extLst>
          </p:cNvPr>
          <p:cNvSpPr/>
          <p:nvPr/>
        </p:nvSpPr>
        <p:spPr>
          <a:xfrm>
            <a:off x="204510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2C2D925D-6B75-6343-98E5-6C4C877FBFA2}"/>
              </a:ext>
            </a:extLst>
          </p:cNvPr>
          <p:cNvSpPr/>
          <p:nvPr/>
        </p:nvSpPr>
        <p:spPr>
          <a:xfrm>
            <a:off x="297917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BE1BE27E-9D69-554E-3F7C-F89872E0EB58}"/>
              </a:ext>
            </a:extLst>
          </p:cNvPr>
          <p:cNvSpPr/>
          <p:nvPr/>
        </p:nvSpPr>
        <p:spPr>
          <a:xfrm>
            <a:off x="391323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0EB01E37-17E8-5EF7-16DA-D6453D98C892}"/>
              </a:ext>
            </a:extLst>
          </p:cNvPr>
          <p:cNvSpPr/>
          <p:nvPr/>
        </p:nvSpPr>
        <p:spPr>
          <a:xfrm>
            <a:off x="484730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BB05035F-F8BC-2458-BB4B-05CD9BD0A00A}"/>
              </a:ext>
            </a:extLst>
          </p:cNvPr>
          <p:cNvSpPr/>
          <p:nvPr/>
        </p:nvSpPr>
        <p:spPr>
          <a:xfrm>
            <a:off x="578136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E3E37B33-8DD8-8889-4C38-3B95F2B2565C}"/>
              </a:ext>
            </a:extLst>
          </p:cNvPr>
          <p:cNvSpPr/>
          <p:nvPr/>
        </p:nvSpPr>
        <p:spPr>
          <a:xfrm>
            <a:off x="6715433" y="6774426"/>
            <a:ext cx="629265" cy="83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C4D2C541-5A7A-BF83-6266-AB87E8FB1081}"/>
              </a:ext>
            </a:extLst>
          </p:cNvPr>
          <p:cNvSpPr/>
          <p:nvPr/>
        </p:nvSpPr>
        <p:spPr>
          <a:xfrm>
            <a:off x="7649498" y="6626942"/>
            <a:ext cx="629265" cy="2310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55C14B23-8DB2-DC11-A7EF-42ABB0A61D90}"/>
              </a:ext>
            </a:extLst>
          </p:cNvPr>
          <p:cNvSpPr/>
          <p:nvPr/>
        </p:nvSpPr>
        <p:spPr>
          <a:xfrm>
            <a:off x="858356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8E44CA50-0E69-747D-9192-0EE01ABAE80B}"/>
              </a:ext>
            </a:extLst>
          </p:cNvPr>
          <p:cNvSpPr/>
          <p:nvPr/>
        </p:nvSpPr>
        <p:spPr>
          <a:xfrm>
            <a:off x="951762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54AEBA71-21E5-1BDE-EEE0-A9819294C297}"/>
              </a:ext>
            </a:extLst>
          </p:cNvPr>
          <p:cNvSpPr/>
          <p:nvPr/>
        </p:nvSpPr>
        <p:spPr>
          <a:xfrm>
            <a:off x="10451693" y="6263148"/>
            <a:ext cx="629265" cy="5948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74DC4EFC-A3D0-B398-A71F-7D2D8AB7F0DF}"/>
              </a:ext>
            </a:extLst>
          </p:cNvPr>
          <p:cNvSpPr/>
          <p:nvPr/>
        </p:nvSpPr>
        <p:spPr>
          <a:xfrm>
            <a:off x="1138575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1F6E886B-3AB8-1AA5-C5D5-D9B0F148C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Integrita dat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je zajištění, že data jsou </a:t>
            </a:r>
            <a:r>
              <a:rPr kumimoji="0" lang="cs-CZ" altLang="cs-CZ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přesná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cs-CZ" altLang="cs-CZ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úplná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cs-CZ" altLang="cs-CZ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nebyla neoprávněně změněna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cs-CZ" altLang="cs-CZ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009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61487B-EA0D-94D9-384F-5A7E01533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je kontrolní součet?</a:t>
            </a:r>
            <a:r>
              <a:rPr lang="en-US" dirty="0"/>
              <a:t> (Checksum)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55938E0-2E29-0132-739B-C47343832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06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000" b="1" dirty="0"/>
              <a:t>Kontrolní součet </a:t>
            </a:r>
            <a:r>
              <a:rPr lang="cs-CZ" sz="2000" dirty="0"/>
              <a:t>je hodnota vypočtená z dat, která slouží k detekci chyb nebo změn v těchto datech.</a:t>
            </a:r>
            <a:endParaRPr lang="en-US" sz="2000" dirty="0"/>
          </a:p>
          <a:p>
            <a:r>
              <a:rPr lang="en-US" sz="2000" dirty="0" err="1"/>
              <a:t>Počet</a:t>
            </a:r>
            <a:r>
              <a:rPr lang="en-US" sz="2000" dirty="0"/>
              <a:t> "1" </a:t>
            </a:r>
            <a:r>
              <a:rPr lang="en-US" sz="2000" dirty="0" err="1"/>
              <a:t>nebo</a:t>
            </a:r>
            <a:r>
              <a:rPr lang="en-US" sz="2000" dirty="0"/>
              <a:t> "0" (</a:t>
            </a:r>
            <a:r>
              <a:rPr lang="en-US" sz="2000" dirty="0" err="1"/>
              <a:t>parita</a:t>
            </a:r>
            <a:r>
              <a:rPr lang="en-US" sz="2000" dirty="0"/>
              <a:t>)</a:t>
            </a:r>
          </a:p>
          <a:p>
            <a:r>
              <a:rPr lang="en-US" sz="2000" dirty="0" err="1"/>
              <a:t>Hammingův</a:t>
            </a:r>
            <a:r>
              <a:rPr lang="en-US" sz="2000" dirty="0"/>
              <a:t> </a:t>
            </a:r>
            <a:r>
              <a:rPr lang="en-US" sz="2000" dirty="0" err="1"/>
              <a:t>kód</a:t>
            </a:r>
            <a:r>
              <a:rPr lang="en-US" sz="2000" dirty="0"/>
              <a:t> (vice </a:t>
            </a:r>
            <a:r>
              <a:rPr lang="en-US" sz="2000" dirty="0" err="1"/>
              <a:t>bitů</a:t>
            </a:r>
            <a:r>
              <a:rPr lang="en-US" sz="2000" dirty="0"/>
              <a:t> </a:t>
            </a:r>
            <a:r>
              <a:rPr lang="en-US" sz="2000" dirty="0" err="1"/>
              <a:t>chyby</a:t>
            </a:r>
            <a:r>
              <a:rPr lang="en-US" sz="2000" dirty="0"/>
              <a:t> </a:t>
            </a:r>
            <a:r>
              <a:rPr lang="en-US" sz="2000" dirty="0" err="1"/>
              <a:t>nejen</a:t>
            </a:r>
            <a:r>
              <a:rPr lang="en-US" sz="2000" dirty="0"/>
              <a:t> </a:t>
            </a:r>
            <a:r>
              <a:rPr lang="en-US" sz="2000" dirty="0" err="1"/>
              <a:t>detekuje</a:t>
            </a:r>
            <a:r>
              <a:rPr lang="en-US" sz="2000" dirty="0"/>
              <a:t>, ale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opravuje</a:t>
            </a:r>
            <a:r>
              <a:rPr lang="en-US" sz="2000" dirty="0"/>
              <a:t>)</a:t>
            </a:r>
          </a:p>
          <a:p>
            <a:r>
              <a:rPr lang="en-US" sz="2000" b="1" dirty="0" err="1"/>
              <a:t>Hashovací</a:t>
            </a:r>
            <a:r>
              <a:rPr lang="en-US" sz="2000" b="1" dirty="0"/>
              <a:t> </a:t>
            </a:r>
            <a:r>
              <a:rPr lang="en-US" sz="2000" b="1" dirty="0" err="1"/>
              <a:t>funkce</a:t>
            </a:r>
            <a:r>
              <a:rPr lang="en-US" sz="2000" dirty="0"/>
              <a:t>:</a:t>
            </a:r>
          </a:p>
          <a:p>
            <a:pPr lvl="1"/>
            <a:r>
              <a:rPr lang="en-US" sz="2000" dirty="0" err="1"/>
              <a:t>Cyklický</a:t>
            </a:r>
            <a:r>
              <a:rPr lang="en-US" sz="2000" dirty="0"/>
              <a:t> </a:t>
            </a:r>
            <a:r>
              <a:rPr lang="en-US" sz="2000" dirty="0" err="1"/>
              <a:t>redundantní</a:t>
            </a:r>
            <a:r>
              <a:rPr lang="en-US" sz="2000" dirty="0"/>
              <a:t> </a:t>
            </a:r>
            <a:r>
              <a:rPr lang="en-US" sz="2000" dirty="0" err="1"/>
              <a:t>součet</a:t>
            </a:r>
            <a:r>
              <a:rPr lang="en-US" sz="2000" dirty="0"/>
              <a:t> (CRC)</a:t>
            </a:r>
          </a:p>
          <a:p>
            <a:pPr lvl="1"/>
            <a:r>
              <a:rPr lang="en-US" sz="2000" dirty="0"/>
              <a:t>Message-Digest algorithm (MD5)</a:t>
            </a:r>
          </a:p>
          <a:p>
            <a:pPr lvl="1"/>
            <a:r>
              <a:rPr lang="en-US" sz="2000" dirty="0"/>
              <a:t>Secure Hash Algorithm (SHA)</a:t>
            </a: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B23E966E-D174-E59D-E0B6-E7303AE480EA}"/>
              </a:ext>
            </a:extLst>
          </p:cNvPr>
          <p:cNvSpPr/>
          <p:nvPr/>
        </p:nvSpPr>
        <p:spPr>
          <a:xfrm>
            <a:off x="176978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34EC0D94-3A0F-072F-7802-D4BDCCB1C571}"/>
              </a:ext>
            </a:extLst>
          </p:cNvPr>
          <p:cNvSpPr/>
          <p:nvPr/>
        </p:nvSpPr>
        <p:spPr>
          <a:xfrm>
            <a:off x="1111043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C0DE999A-75CE-CD66-026C-9698182DD6D5}"/>
              </a:ext>
            </a:extLst>
          </p:cNvPr>
          <p:cNvSpPr/>
          <p:nvPr/>
        </p:nvSpPr>
        <p:spPr>
          <a:xfrm>
            <a:off x="204510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2C2D925D-6B75-6343-98E5-6C4C877FBFA2}"/>
              </a:ext>
            </a:extLst>
          </p:cNvPr>
          <p:cNvSpPr/>
          <p:nvPr/>
        </p:nvSpPr>
        <p:spPr>
          <a:xfrm>
            <a:off x="297917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BE1BE27E-9D69-554E-3F7C-F89872E0EB58}"/>
              </a:ext>
            </a:extLst>
          </p:cNvPr>
          <p:cNvSpPr/>
          <p:nvPr/>
        </p:nvSpPr>
        <p:spPr>
          <a:xfrm>
            <a:off x="391323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0EB01E37-17E8-5EF7-16DA-D6453D98C892}"/>
              </a:ext>
            </a:extLst>
          </p:cNvPr>
          <p:cNvSpPr/>
          <p:nvPr/>
        </p:nvSpPr>
        <p:spPr>
          <a:xfrm>
            <a:off x="484730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BB05035F-F8BC-2458-BB4B-05CD9BD0A00A}"/>
              </a:ext>
            </a:extLst>
          </p:cNvPr>
          <p:cNvSpPr/>
          <p:nvPr/>
        </p:nvSpPr>
        <p:spPr>
          <a:xfrm>
            <a:off x="578136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E3E37B33-8DD8-8889-4C38-3B95F2B2565C}"/>
              </a:ext>
            </a:extLst>
          </p:cNvPr>
          <p:cNvSpPr/>
          <p:nvPr/>
        </p:nvSpPr>
        <p:spPr>
          <a:xfrm>
            <a:off x="6715433" y="6774426"/>
            <a:ext cx="629265" cy="83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C4D2C541-5A7A-BF83-6266-AB87E8FB1081}"/>
              </a:ext>
            </a:extLst>
          </p:cNvPr>
          <p:cNvSpPr/>
          <p:nvPr/>
        </p:nvSpPr>
        <p:spPr>
          <a:xfrm>
            <a:off x="7649498" y="6626942"/>
            <a:ext cx="629265" cy="2310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55C14B23-8DB2-DC11-A7EF-42ABB0A61D90}"/>
              </a:ext>
            </a:extLst>
          </p:cNvPr>
          <p:cNvSpPr/>
          <p:nvPr/>
        </p:nvSpPr>
        <p:spPr>
          <a:xfrm>
            <a:off x="858356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8E44CA50-0E69-747D-9192-0EE01ABAE80B}"/>
              </a:ext>
            </a:extLst>
          </p:cNvPr>
          <p:cNvSpPr/>
          <p:nvPr/>
        </p:nvSpPr>
        <p:spPr>
          <a:xfrm>
            <a:off x="951762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54AEBA71-21E5-1BDE-EEE0-A9819294C297}"/>
              </a:ext>
            </a:extLst>
          </p:cNvPr>
          <p:cNvSpPr/>
          <p:nvPr/>
        </p:nvSpPr>
        <p:spPr>
          <a:xfrm>
            <a:off x="10451693" y="6263148"/>
            <a:ext cx="629265" cy="5948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74DC4EFC-A3D0-B398-A71F-7D2D8AB7F0DF}"/>
              </a:ext>
            </a:extLst>
          </p:cNvPr>
          <p:cNvSpPr/>
          <p:nvPr/>
        </p:nvSpPr>
        <p:spPr>
          <a:xfrm>
            <a:off x="1138575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22" name="Obrázek 21">
            <a:extLst>
              <a:ext uri="{FF2B5EF4-FFF2-40B4-BE49-F238E27FC236}">
                <a16:creationId xmlns:a16="http://schemas.microsoft.com/office/drawing/2014/main" id="{98E036F4-9179-269F-1D0E-623B856DB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438" y="5009941"/>
            <a:ext cx="4953691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988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61487B-EA0D-94D9-384F-5A7E01533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Hashovací funkce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55938E0-2E29-0132-739B-C47343832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06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000" b="1" dirty="0"/>
              <a:t>Hashovací funkce </a:t>
            </a:r>
            <a:r>
              <a:rPr lang="cs-CZ" sz="2000" dirty="0"/>
              <a:t>převádí data libovolné délky na pevně dlouhý řetězec znaků, tzv. </a:t>
            </a:r>
            <a:r>
              <a:rPr lang="cs-CZ" sz="2000" b="1" dirty="0" err="1"/>
              <a:t>hash</a:t>
            </a:r>
            <a:r>
              <a:rPr lang="cs-CZ" sz="2000" b="1" dirty="0"/>
              <a:t>.</a:t>
            </a: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 err="1"/>
              <a:t>Vlastnosti</a:t>
            </a:r>
            <a:r>
              <a:rPr lang="en-US" sz="2000" b="1" dirty="0"/>
              <a:t>:</a:t>
            </a:r>
          </a:p>
          <a:p>
            <a:r>
              <a:rPr lang="en-US" sz="2000" b="1" dirty="0" err="1"/>
              <a:t>Deterministická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Stejný</a:t>
            </a:r>
            <a:r>
              <a:rPr lang="en-US" sz="2000" dirty="0"/>
              <a:t> </a:t>
            </a:r>
            <a:r>
              <a:rPr lang="en-US" sz="2000" dirty="0" err="1"/>
              <a:t>vstup</a:t>
            </a:r>
            <a:r>
              <a:rPr lang="en-US" sz="2000" dirty="0"/>
              <a:t> </a:t>
            </a:r>
            <a:r>
              <a:rPr lang="en-US" sz="2000" dirty="0" err="1"/>
              <a:t>vždy</a:t>
            </a:r>
            <a:r>
              <a:rPr lang="en-US" sz="2000" dirty="0"/>
              <a:t> </a:t>
            </a:r>
            <a:r>
              <a:rPr lang="en-US" sz="2000" dirty="0" err="1"/>
              <a:t>dává</a:t>
            </a:r>
            <a:r>
              <a:rPr lang="en-US" sz="2000" dirty="0"/>
              <a:t> </a:t>
            </a:r>
            <a:r>
              <a:rPr lang="en-US" sz="2000" dirty="0" err="1"/>
              <a:t>stejný</a:t>
            </a:r>
            <a:r>
              <a:rPr lang="en-US" sz="2000" dirty="0"/>
              <a:t> </a:t>
            </a:r>
            <a:r>
              <a:rPr lang="en-US" sz="2000" dirty="0" err="1"/>
              <a:t>výstup</a:t>
            </a:r>
            <a:r>
              <a:rPr lang="en-US" sz="2000" dirty="0"/>
              <a:t>.</a:t>
            </a:r>
          </a:p>
          <a:p>
            <a:r>
              <a:rPr lang="en-US" sz="2000" b="1" dirty="0" err="1"/>
              <a:t>Jednosměrná</a:t>
            </a:r>
            <a:r>
              <a:rPr lang="en-US" sz="2000" b="1" dirty="0"/>
              <a:t>: </a:t>
            </a:r>
            <a:r>
              <a:rPr lang="en-US" sz="2000" dirty="0" err="1"/>
              <a:t>Nelze</a:t>
            </a:r>
            <a:r>
              <a:rPr lang="en-US" sz="2000" dirty="0"/>
              <a:t> </a:t>
            </a:r>
            <a:r>
              <a:rPr lang="en-US" sz="2000" dirty="0" err="1"/>
              <a:t>snadno</a:t>
            </a:r>
            <a:r>
              <a:rPr lang="en-US" sz="2000" dirty="0"/>
              <a:t> </a:t>
            </a:r>
            <a:r>
              <a:rPr lang="en-US" sz="2000" dirty="0" err="1"/>
              <a:t>získat</a:t>
            </a:r>
            <a:r>
              <a:rPr lang="en-US" sz="2000" dirty="0"/>
              <a:t> </a:t>
            </a:r>
            <a:r>
              <a:rPr lang="en-US" sz="2000" dirty="0" err="1"/>
              <a:t>původní</a:t>
            </a:r>
            <a:r>
              <a:rPr lang="en-US" sz="2000" dirty="0"/>
              <a:t> data z </a:t>
            </a:r>
            <a:r>
              <a:rPr lang="en-US" sz="2000" dirty="0" err="1"/>
              <a:t>hashe</a:t>
            </a:r>
            <a:r>
              <a:rPr lang="en-US" sz="2000" dirty="0"/>
              <a:t>.</a:t>
            </a:r>
          </a:p>
          <a:p>
            <a:r>
              <a:rPr lang="en-US" sz="2000" b="1" dirty="0" err="1"/>
              <a:t>Citlivá</a:t>
            </a:r>
            <a:r>
              <a:rPr lang="en-US" sz="2000" b="1" dirty="0"/>
              <a:t> </a:t>
            </a:r>
            <a:r>
              <a:rPr lang="en-US" sz="2000" b="1" dirty="0" err="1"/>
              <a:t>na</a:t>
            </a:r>
            <a:r>
              <a:rPr lang="en-US" sz="2000" b="1" dirty="0"/>
              <a:t> </a:t>
            </a:r>
            <a:r>
              <a:rPr lang="en-US" sz="2000" b="1" dirty="0" err="1"/>
              <a:t>změny</a:t>
            </a:r>
            <a:r>
              <a:rPr lang="en-US" sz="2000" b="1" dirty="0"/>
              <a:t>: </a:t>
            </a:r>
            <a:r>
              <a:rPr lang="en-US" sz="2000" dirty="0"/>
              <a:t>Malá </a:t>
            </a:r>
            <a:r>
              <a:rPr lang="en-US" sz="2000" dirty="0" err="1"/>
              <a:t>změna</a:t>
            </a:r>
            <a:r>
              <a:rPr lang="en-US" sz="2000" dirty="0"/>
              <a:t> </a:t>
            </a:r>
            <a:r>
              <a:rPr lang="en-US" sz="2000" dirty="0" err="1"/>
              <a:t>vstupu</a:t>
            </a:r>
            <a:r>
              <a:rPr lang="en-US" sz="2000" dirty="0"/>
              <a:t> </a:t>
            </a:r>
            <a:r>
              <a:rPr lang="en-US" sz="2000" dirty="0" err="1"/>
              <a:t>způsobí</a:t>
            </a:r>
            <a:r>
              <a:rPr lang="en-US" sz="2000" dirty="0"/>
              <a:t> </a:t>
            </a:r>
            <a:r>
              <a:rPr lang="en-US" sz="2000" dirty="0" err="1"/>
              <a:t>velkou</a:t>
            </a:r>
            <a:r>
              <a:rPr lang="en-US" sz="2000" dirty="0"/>
              <a:t> </a:t>
            </a:r>
            <a:r>
              <a:rPr lang="en-US" sz="2000" dirty="0" err="1"/>
              <a:t>změnu</a:t>
            </a:r>
            <a:r>
              <a:rPr lang="en-US" sz="2000" dirty="0"/>
              <a:t> </a:t>
            </a:r>
            <a:r>
              <a:rPr lang="en-US" sz="2000" dirty="0" err="1"/>
              <a:t>hashe</a:t>
            </a:r>
            <a:r>
              <a:rPr lang="en-US" sz="2000" dirty="0"/>
              <a:t>.</a:t>
            </a: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B23E966E-D174-E59D-E0B6-E7303AE480EA}"/>
              </a:ext>
            </a:extLst>
          </p:cNvPr>
          <p:cNvSpPr/>
          <p:nvPr/>
        </p:nvSpPr>
        <p:spPr>
          <a:xfrm>
            <a:off x="176978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34EC0D94-3A0F-072F-7802-D4BDCCB1C571}"/>
              </a:ext>
            </a:extLst>
          </p:cNvPr>
          <p:cNvSpPr/>
          <p:nvPr/>
        </p:nvSpPr>
        <p:spPr>
          <a:xfrm>
            <a:off x="1111043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C0DE999A-75CE-CD66-026C-9698182DD6D5}"/>
              </a:ext>
            </a:extLst>
          </p:cNvPr>
          <p:cNvSpPr/>
          <p:nvPr/>
        </p:nvSpPr>
        <p:spPr>
          <a:xfrm>
            <a:off x="204510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2C2D925D-6B75-6343-98E5-6C4C877FBFA2}"/>
              </a:ext>
            </a:extLst>
          </p:cNvPr>
          <p:cNvSpPr/>
          <p:nvPr/>
        </p:nvSpPr>
        <p:spPr>
          <a:xfrm>
            <a:off x="297917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BE1BE27E-9D69-554E-3F7C-F89872E0EB58}"/>
              </a:ext>
            </a:extLst>
          </p:cNvPr>
          <p:cNvSpPr/>
          <p:nvPr/>
        </p:nvSpPr>
        <p:spPr>
          <a:xfrm>
            <a:off x="391323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0EB01E37-17E8-5EF7-16DA-D6453D98C892}"/>
              </a:ext>
            </a:extLst>
          </p:cNvPr>
          <p:cNvSpPr/>
          <p:nvPr/>
        </p:nvSpPr>
        <p:spPr>
          <a:xfrm>
            <a:off x="484730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BB05035F-F8BC-2458-BB4B-05CD9BD0A00A}"/>
              </a:ext>
            </a:extLst>
          </p:cNvPr>
          <p:cNvSpPr/>
          <p:nvPr/>
        </p:nvSpPr>
        <p:spPr>
          <a:xfrm>
            <a:off x="578136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E3E37B33-8DD8-8889-4C38-3B95F2B2565C}"/>
              </a:ext>
            </a:extLst>
          </p:cNvPr>
          <p:cNvSpPr/>
          <p:nvPr/>
        </p:nvSpPr>
        <p:spPr>
          <a:xfrm>
            <a:off x="6715433" y="6774426"/>
            <a:ext cx="629265" cy="83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C4D2C541-5A7A-BF83-6266-AB87E8FB1081}"/>
              </a:ext>
            </a:extLst>
          </p:cNvPr>
          <p:cNvSpPr/>
          <p:nvPr/>
        </p:nvSpPr>
        <p:spPr>
          <a:xfrm>
            <a:off x="7649498" y="6626942"/>
            <a:ext cx="629265" cy="2310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55C14B23-8DB2-DC11-A7EF-42ABB0A61D90}"/>
              </a:ext>
            </a:extLst>
          </p:cNvPr>
          <p:cNvSpPr/>
          <p:nvPr/>
        </p:nvSpPr>
        <p:spPr>
          <a:xfrm>
            <a:off x="858356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8E44CA50-0E69-747D-9192-0EE01ABAE80B}"/>
              </a:ext>
            </a:extLst>
          </p:cNvPr>
          <p:cNvSpPr/>
          <p:nvPr/>
        </p:nvSpPr>
        <p:spPr>
          <a:xfrm>
            <a:off x="951762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54AEBA71-21E5-1BDE-EEE0-A9819294C297}"/>
              </a:ext>
            </a:extLst>
          </p:cNvPr>
          <p:cNvSpPr/>
          <p:nvPr/>
        </p:nvSpPr>
        <p:spPr>
          <a:xfrm>
            <a:off x="10451693" y="6263148"/>
            <a:ext cx="629265" cy="5948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74DC4EFC-A3D0-B398-A71F-7D2D8AB7F0DF}"/>
              </a:ext>
            </a:extLst>
          </p:cNvPr>
          <p:cNvSpPr/>
          <p:nvPr/>
        </p:nvSpPr>
        <p:spPr>
          <a:xfrm>
            <a:off x="1138575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18" name="Obrázek 17">
            <a:extLst>
              <a:ext uri="{FF2B5EF4-FFF2-40B4-BE49-F238E27FC236}">
                <a16:creationId xmlns:a16="http://schemas.microsoft.com/office/drawing/2014/main" id="{068C1A4E-A94F-5F4D-E768-546090C6E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707" y="4791316"/>
            <a:ext cx="4734586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289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61487B-EA0D-94D9-384F-5A7E01533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Význam kontrolních součtů a </a:t>
            </a:r>
            <a:r>
              <a:rPr lang="cs-CZ" dirty="0" err="1"/>
              <a:t>hashování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55938E0-2E29-0132-739B-C47343832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06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000" b="1" dirty="0"/>
              <a:t>Zajištění integrity dat:</a:t>
            </a:r>
            <a:endParaRPr lang="en-US" sz="2000" b="1" dirty="0"/>
          </a:p>
          <a:p>
            <a:r>
              <a:rPr lang="cs-CZ" sz="2000" dirty="0"/>
              <a:t>Detekce chyb při přenosu nebo ukládání.</a:t>
            </a:r>
          </a:p>
          <a:p>
            <a:r>
              <a:rPr lang="cs-CZ" sz="2000" dirty="0"/>
              <a:t>Ochrana před neoprávněnými změnami.</a:t>
            </a:r>
            <a:endParaRPr lang="en-US" sz="2000" dirty="0"/>
          </a:p>
          <a:p>
            <a:endParaRPr lang="cs-CZ" sz="2000" dirty="0"/>
          </a:p>
          <a:p>
            <a:pPr marL="0" indent="0">
              <a:buNone/>
            </a:pPr>
            <a:r>
              <a:rPr lang="cs-CZ" sz="2000" b="1" dirty="0"/>
              <a:t>Bezpečnostní aplikace</a:t>
            </a:r>
            <a:r>
              <a:rPr lang="en-US" sz="2000" b="1" dirty="0"/>
              <a:t>:</a:t>
            </a:r>
          </a:p>
          <a:p>
            <a:r>
              <a:rPr lang="cs-CZ" sz="2000" dirty="0"/>
              <a:t>Ukládání hesel v hashované podobě.</a:t>
            </a:r>
          </a:p>
          <a:p>
            <a:r>
              <a:rPr lang="cs-CZ" sz="2000" dirty="0"/>
              <a:t>Digitální podpisy a certifikáty.</a:t>
            </a:r>
            <a:endParaRPr lang="en-US" sz="2000" dirty="0"/>
          </a:p>
          <a:p>
            <a:endParaRPr lang="cs-CZ" sz="2000" dirty="0"/>
          </a:p>
          <a:p>
            <a:pPr marL="0" indent="0">
              <a:buNone/>
            </a:pPr>
            <a:r>
              <a:rPr lang="cs-CZ" sz="2000" b="1" dirty="0"/>
              <a:t>Datové struktury</a:t>
            </a:r>
            <a:r>
              <a:rPr lang="en-US" sz="2000" b="1" dirty="0"/>
              <a:t>:</a:t>
            </a:r>
          </a:p>
          <a:p>
            <a:r>
              <a:rPr lang="cs-CZ" sz="2000" dirty="0"/>
              <a:t>Hashovací tabulky pro rychlé vyhledávání.</a:t>
            </a: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B23E966E-D174-E59D-E0B6-E7303AE480EA}"/>
              </a:ext>
            </a:extLst>
          </p:cNvPr>
          <p:cNvSpPr/>
          <p:nvPr/>
        </p:nvSpPr>
        <p:spPr>
          <a:xfrm>
            <a:off x="176978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34EC0D94-3A0F-072F-7802-D4BDCCB1C571}"/>
              </a:ext>
            </a:extLst>
          </p:cNvPr>
          <p:cNvSpPr/>
          <p:nvPr/>
        </p:nvSpPr>
        <p:spPr>
          <a:xfrm>
            <a:off x="1111043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C0DE999A-75CE-CD66-026C-9698182DD6D5}"/>
              </a:ext>
            </a:extLst>
          </p:cNvPr>
          <p:cNvSpPr/>
          <p:nvPr/>
        </p:nvSpPr>
        <p:spPr>
          <a:xfrm>
            <a:off x="204510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2C2D925D-6B75-6343-98E5-6C4C877FBFA2}"/>
              </a:ext>
            </a:extLst>
          </p:cNvPr>
          <p:cNvSpPr/>
          <p:nvPr/>
        </p:nvSpPr>
        <p:spPr>
          <a:xfrm>
            <a:off x="297917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BE1BE27E-9D69-554E-3F7C-F89872E0EB58}"/>
              </a:ext>
            </a:extLst>
          </p:cNvPr>
          <p:cNvSpPr/>
          <p:nvPr/>
        </p:nvSpPr>
        <p:spPr>
          <a:xfrm>
            <a:off x="391323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0EB01E37-17E8-5EF7-16DA-D6453D98C892}"/>
              </a:ext>
            </a:extLst>
          </p:cNvPr>
          <p:cNvSpPr/>
          <p:nvPr/>
        </p:nvSpPr>
        <p:spPr>
          <a:xfrm>
            <a:off x="484730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BB05035F-F8BC-2458-BB4B-05CD9BD0A00A}"/>
              </a:ext>
            </a:extLst>
          </p:cNvPr>
          <p:cNvSpPr/>
          <p:nvPr/>
        </p:nvSpPr>
        <p:spPr>
          <a:xfrm>
            <a:off x="578136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E3E37B33-8DD8-8889-4C38-3B95F2B2565C}"/>
              </a:ext>
            </a:extLst>
          </p:cNvPr>
          <p:cNvSpPr/>
          <p:nvPr/>
        </p:nvSpPr>
        <p:spPr>
          <a:xfrm>
            <a:off x="6715433" y="6774426"/>
            <a:ext cx="629265" cy="83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C4D2C541-5A7A-BF83-6266-AB87E8FB1081}"/>
              </a:ext>
            </a:extLst>
          </p:cNvPr>
          <p:cNvSpPr/>
          <p:nvPr/>
        </p:nvSpPr>
        <p:spPr>
          <a:xfrm>
            <a:off x="7649498" y="6626942"/>
            <a:ext cx="629265" cy="2310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55C14B23-8DB2-DC11-A7EF-42ABB0A61D90}"/>
              </a:ext>
            </a:extLst>
          </p:cNvPr>
          <p:cNvSpPr/>
          <p:nvPr/>
        </p:nvSpPr>
        <p:spPr>
          <a:xfrm>
            <a:off x="858356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8E44CA50-0E69-747D-9192-0EE01ABAE80B}"/>
              </a:ext>
            </a:extLst>
          </p:cNvPr>
          <p:cNvSpPr/>
          <p:nvPr/>
        </p:nvSpPr>
        <p:spPr>
          <a:xfrm>
            <a:off x="951762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54AEBA71-21E5-1BDE-EEE0-A9819294C297}"/>
              </a:ext>
            </a:extLst>
          </p:cNvPr>
          <p:cNvSpPr/>
          <p:nvPr/>
        </p:nvSpPr>
        <p:spPr>
          <a:xfrm>
            <a:off x="10451693" y="6263148"/>
            <a:ext cx="629265" cy="5948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74DC4EFC-A3D0-B398-A71F-7D2D8AB7F0DF}"/>
              </a:ext>
            </a:extLst>
          </p:cNvPr>
          <p:cNvSpPr/>
          <p:nvPr/>
        </p:nvSpPr>
        <p:spPr>
          <a:xfrm>
            <a:off x="1138575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47879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61487B-EA0D-94D9-384F-5A7E01533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Cyclic</a:t>
            </a:r>
            <a:r>
              <a:rPr lang="cs-CZ" dirty="0"/>
              <a:t> </a:t>
            </a:r>
            <a:r>
              <a:rPr lang="cs-CZ" dirty="0" err="1"/>
              <a:t>Redundancy</a:t>
            </a:r>
            <a:r>
              <a:rPr lang="cs-CZ" dirty="0"/>
              <a:t> </a:t>
            </a:r>
            <a:r>
              <a:rPr lang="cs-CZ" dirty="0" err="1"/>
              <a:t>Check</a:t>
            </a:r>
            <a:r>
              <a:rPr lang="cs-CZ" dirty="0"/>
              <a:t> (CRC)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55938E0-2E29-0132-739B-C47343832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06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000" b="1" dirty="0"/>
              <a:t>CRC </a:t>
            </a:r>
            <a:r>
              <a:rPr lang="cs-CZ" sz="2000" dirty="0"/>
              <a:t>je metoda pro detekci chyb v datech pomocí polynomiální aritmetiky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Protože</a:t>
            </a:r>
            <a:r>
              <a:rPr lang="en-US" sz="2000" dirty="0"/>
              <a:t> </a:t>
            </a:r>
            <a:r>
              <a:rPr lang="en-US" sz="2000" dirty="0" err="1"/>
              <a:t>lze</a:t>
            </a:r>
            <a:r>
              <a:rPr lang="en-US" sz="2000" dirty="0"/>
              <a:t> </a:t>
            </a:r>
            <a:r>
              <a:rPr lang="en-US" sz="2000" dirty="0" err="1"/>
              <a:t>většinu</a:t>
            </a:r>
            <a:r>
              <a:rPr lang="en-US" sz="2000" dirty="0"/>
              <a:t> </a:t>
            </a:r>
            <a:r>
              <a:rPr lang="en-US" sz="2000" dirty="0" err="1"/>
              <a:t>těchto</a:t>
            </a:r>
            <a:r>
              <a:rPr lang="en-US" sz="2000" dirty="0"/>
              <a:t> </a:t>
            </a:r>
            <a:r>
              <a:rPr lang="en-US" sz="2000" dirty="0" err="1"/>
              <a:t>výpočtů</a:t>
            </a:r>
            <a:r>
              <a:rPr lang="en-US" sz="2000" dirty="0"/>
              <a:t> </a:t>
            </a:r>
            <a:r>
              <a:rPr lang="en-US" sz="2000" dirty="0" err="1"/>
              <a:t>realizovat</a:t>
            </a:r>
            <a:r>
              <a:rPr lang="en-US" sz="2000" dirty="0"/>
              <a:t> </a:t>
            </a:r>
            <a:r>
              <a:rPr lang="en-US" sz="2000" dirty="0" err="1"/>
              <a:t>pomocí</a:t>
            </a:r>
            <a:r>
              <a:rPr lang="en-US" sz="2000" dirty="0"/>
              <a:t> </a:t>
            </a:r>
            <a:r>
              <a:rPr lang="en-US" sz="2000" dirty="0" err="1"/>
              <a:t>posuvných</a:t>
            </a:r>
            <a:r>
              <a:rPr lang="en-US" sz="2000" dirty="0"/>
              <a:t> </a:t>
            </a:r>
            <a:r>
              <a:rPr lang="en-US" sz="2000" dirty="0" err="1"/>
              <a:t>registrů</a:t>
            </a:r>
            <a:r>
              <a:rPr lang="en-US" sz="2000" dirty="0"/>
              <a:t>, </a:t>
            </a:r>
            <a:r>
              <a:rPr lang="en-US" sz="2000" dirty="0" err="1"/>
              <a:t>používá</a:t>
            </a:r>
            <a:r>
              <a:rPr lang="en-US" sz="2000" dirty="0"/>
              <a:t> se </a:t>
            </a:r>
            <a:r>
              <a:rPr lang="en-US" sz="2000" dirty="0" err="1"/>
              <a:t>zejména</a:t>
            </a:r>
            <a:r>
              <a:rPr lang="en-US" sz="2000" dirty="0"/>
              <a:t> pro </a:t>
            </a:r>
            <a:r>
              <a:rPr lang="en-US" sz="2000" dirty="0" err="1"/>
              <a:t>kontrolu</a:t>
            </a:r>
            <a:r>
              <a:rPr lang="en-US" sz="2000" dirty="0"/>
              <a:t> </a:t>
            </a:r>
            <a:r>
              <a:rPr lang="en-US" sz="2000" dirty="0" err="1"/>
              <a:t>přenášených</a:t>
            </a:r>
            <a:r>
              <a:rPr lang="en-US" sz="2000" dirty="0"/>
              <a:t> dat.</a:t>
            </a:r>
            <a:endParaRPr lang="cs-CZ" sz="2000" dirty="0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B23E966E-D174-E59D-E0B6-E7303AE480EA}"/>
              </a:ext>
            </a:extLst>
          </p:cNvPr>
          <p:cNvSpPr/>
          <p:nvPr/>
        </p:nvSpPr>
        <p:spPr>
          <a:xfrm>
            <a:off x="176978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34EC0D94-3A0F-072F-7802-D4BDCCB1C571}"/>
              </a:ext>
            </a:extLst>
          </p:cNvPr>
          <p:cNvSpPr/>
          <p:nvPr/>
        </p:nvSpPr>
        <p:spPr>
          <a:xfrm>
            <a:off x="1111043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C0DE999A-75CE-CD66-026C-9698182DD6D5}"/>
              </a:ext>
            </a:extLst>
          </p:cNvPr>
          <p:cNvSpPr/>
          <p:nvPr/>
        </p:nvSpPr>
        <p:spPr>
          <a:xfrm>
            <a:off x="204510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2C2D925D-6B75-6343-98E5-6C4C877FBFA2}"/>
              </a:ext>
            </a:extLst>
          </p:cNvPr>
          <p:cNvSpPr/>
          <p:nvPr/>
        </p:nvSpPr>
        <p:spPr>
          <a:xfrm>
            <a:off x="297917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BE1BE27E-9D69-554E-3F7C-F89872E0EB58}"/>
              </a:ext>
            </a:extLst>
          </p:cNvPr>
          <p:cNvSpPr/>
          <p:nvPr/>
        </p:nvSpPr>
        <p:spPr>
          <a:xfrm>
            <a:off x="391323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0EB01E37-17E8-5EF7-16DA-D6453D98C892}"/>
              </a:ext>
            </a:extLst>
          </p:cNvPr>
          <p:cNvSpPr/>
          <p:nvPr/>
        </p:nvSpPr>
        <p:spPr>
          <a:xfrm>
            <a:off x="484730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BB05035F-F8BC-2458-BB4B-05CD9BD0A00A}"/>
              </a:ext>
            </a:extLst>
          </p:cNvPr>
          <p:cNvSpPr/>
          <p:nvPr/>
        </p:nvSpPr>
        <p:spPr>
          <a:xfrm>
            <a:off x="578136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E3E37B33-8DD8-8889-4C38-3B95F2B2565C}"/>
              </a:ext>
            </a:extLst>
          </p:cNvPr>
          <p:cNvSpPr/>
          <p:nvPr/>
        </p:nvSpPr>
        <p:spPr>
          <a:xfrm>
            <a:off x="6715433" y="6774426"/>
            <a:ext cx="629265" cy="83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C4D2C541-5A7A-BF83-6266-AB87E8FB1081}"/>
              </a:ext>
            </a:extLst>
          </p:cNvPr>
          <p:cNvSpPr/>
          <p:nvPr/>
        </p:nvSpPr>
        <p:spPr>
          <a:xfrm>
            <a:off x="7649498" y="6626942"/>
            <a:ext cx="629265" cy="2310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55C14B23-8DB2-DC11-A7EF-42ABB0A61D90}"/>
              </a:ext>
            </a:extLst>
          </p:cNvPr>
          <p:cNvSpPr/>
          <p:nvPr/>
        </p:nvSpPr>
        <p:spPr>
          <a:xfrm>
            <a:off x="858356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8E44CA50-0E69-747D-9192-0EE01ABAE80B}"/>
              </a:ext>
            </a:extLst>
          </p:cNvPr>
          <p:cNvSpPr/>
          <p:nvPr/>
        </p:nvSpPr>
        <p:spPr>
          <a:xfrm>
            <a:off x="951762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54AEBA71-21E5-1BDE-EEE0-A9819294C297}"/>
              </a:ext>
            </a:extLst>
          </p:cNvPr>
          <p:cNvSpPr/>
          <p:nvPr/>
        </p:nvSpPr>
        <p:spPr>
          <a:xfrm>
            <a:off x="10451693" y="6263148"/>
            <a:ext cx="629265" cy="5948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74DC4EFC-A3D0-B398-A71F-7D2D8AB7F0DF}"/>
              </a:ext>
            </a:extLst>
          </p:cNvPr>
          <p:cNvSpPr/>
          <p:nvPr/>
        </p:nvSpPr>
        <p:spPr>
          <a:xfrm>
            <a:off x="1138575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21" name="Obrázek 20">
            <a:extLst>
              <a:ext uri="{FF2B5EF4-FFF2-40B4-BE49-F238E27FC236}">
                <a16:creationId xmlns:a16="http://schemas.microsoft.com/office/drawing/2014/main" id="{496A8BBB-A995-482A-8A12-30247587F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363" y="2480687"/>
            <a:ext cx="6611273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272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61487B-EA0D-94D9-384F-5A7E01533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 výpočtu CRC v Pythonu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55938E0-2E29-0132-739B-C47343832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05084"/>
            <a:ext cx="10515600" cy="2526889"/>
          </a:xfrm>
        </p:spPr>
        <p:txBody>
          <a:bodyPr>
            <a:normAutofit/>
          </a:bodyPr>
          <a:lstStyle/>
          <a:p>
            <a:r>
              <a:rPr lang="cs-CZ" sz="2000" b="1" dirty="0"/>
              <a:t>binascii.crc32(data): </a:t>
            </a:r>
            <a:r>
              <a:rPr lang="cs-CZ" sz="2000" dirty="0"/>
              <a:t>Vypočítá CRC32 z daných dat.</a:t>
            </a:r>
          </a:p>
          <a:p>
            <a:r>
              <a:rPr lang="cs-CZ" sz="2000" dirty="0"/>
              <a:t>Formátování </a:t>
            </a:r>
            <a:r>
              <a:rPr lang="cs-CZ" sz="2000" b="1" dirty="0"/>
              <a:t>{</a:t>
            </a:r>
            <a:r>
              <a:rPr lang="cs-CZ" sz="2000" b="1" dirty="0" err="1"/>
              <a:t>crc_value</a:t>
            </a:r>
            <a:r>
              <a:rPr lang="cs-CZ" sz="2000" b="1" dirty="0"/>
              <a:t>:#010x}:</a:t>
            </a:r>
          </a:p>
          <a:p>
            <a:pPr lvl="1"/>
            <a:r>
              <a:rPr lang="cs-CZ" sz="1600" b="1" dirty="0"/>
              <a:t>#</a:t>
            </a:r>
            <a:r>
              <a:rPr lang="cs-CZ" sz="1600" dirty="0"/>
              <a:t>: Přidá předponu 0x pro hexadecimální čísla.</a:t>
            </a:r>
          </a:p>
          <a:p>
            <a:pPr lvl="1"/>
            <a:r>
              <a:rPr lang="cs-CZ" sz="1600" b="1" dirty="0"/>
              <a:t>010</a:t>
            </a:r>
            <a:r>
              <a:rPr lang="cs-CZ" sz="1600" dirty="0"/>
              <a:t>: Celková šířka výstupu je 10 znaků (včetně 0x).</a:t>
            </a:r>
          </a:p>
          <a:p>
            <a:pPr lvl="1"/>
            <a:r>
              <a:rPr lang="cs-CZ" sz="1600" b="1" dirty="0"/>
              <a:t>x</a:t>
            </a:r>
            <a:r>
              <a:rPr lang="cs-CZ" sz="1600" dirty="0"/>
              <a:t>: Formátování do malých hexadecimálních znaků</a:t>
            </a: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B23E966E-D174-E59D-E0B6-E7303AE480EA}"/>
              </a:ext>
            </a:extLst>
          </p:cNvPr>
          <p:cNvSpPr/>
          <p:nvPr/>
        </p:nvSpPr>
        <p:spPr>
          <a:xfrm>
            <a:off x="176978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34EC0D94-3A0F-072F-7802-D4BDCCB1C571}"/>
              </a:ext>
            </a:extLst>
          </p:cNvPr>
          <p:cNvSpPr/>
          <p:nvPr/>
        </p:nvSpPr>
        <p:spPr>
          <a:xfrm>
            <a:off x="1111043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C0DE999A-75CE-CD66-026C-9698182DD6D5}"/>
              </a:ext>
            </a:extLst>
          </p:cNvPr>
          <p:cNvSpPr/>
          <p:nvPr/>
        </p:nvSpPr>
        <p:spPr>
          <a:xfrm>
            <a:off x="204510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2C2D925D-6B75-6343-98E5-6C4C877FBFA2}"/>
              </a:ext>
            </a:extLst>
          </p:cNvPr>
          <p:cNvSpPr/>
          <p:nvPr/>
        </p:nvSpPr>
        <p:spPr>
          <a:xfrm>
            <a:off x="297917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BE1BE27E-9D69-554E-3F7C-F89872E0EB58}"/>
              </a:ext>
            </a:extLst>
          </p:cNvPr>
          <p:cNvSpPr/>
          <p:nvPr/>
        </p:nvSpPr>
        <p:spPr>
          <a:xfrm>
            <a:off x="391323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0EB01E37-17E8-5EF7-16DA-D6453D98C892}"/>
              </a:ext>
            </a:extLst>
          </p:cNvPr>
          <p:cNvSpPr/>
          <p:nvPr/>
        </p:nvSpPr>
        <p:spPr>
          <a:xfrm>
            <a:off x="484730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BB05035F-F8BC-2458-BB4B-05CD9BD0A00A}"/>
              </a:ext>
            </a:extLst>
          </p:cNvPr>
          <p:cNvSpPr/>
          <p:nvPr/>
        </p:nvSpPr>
        <p:spPr>
          <a:xfrm>
            <a:off x="578136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E3E37B33-8DD8-8889-4C38-3B95F2B2565C}"/>
              </a:ext>
            </a:extLst>
          </p:cNvPr>
          <p:cNvSpPr/>
          <p:nvPr/>
        </p:nvSpPr>
        <p:spPr>
          <a:xfrm>
            <a:off x="6715433" y="6774426"/>
            <a:ext cx="629265" cy="83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C4D2C541-5A7A-BF83-6266-AB87E8FB1081}"/>
              </a:ext>
            </a:extLst>
          </p:cNvPr>
          <p:cNvSpPr/>
          <p:nvPr/>
        </p:nvSpPr>
        <p:spPr>
          <a:xfrm>
            <a:off x="7649498" y="6626942"/>
            <a:ext cx="629265" cy="2310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55C14B23-8DB2-DC11-A7EF-42ABB0A61D90}"/>
              </a:ext>
            </a:extLst>
          </p:cNvPr>
          <p:cNvSpPr/>
          <p:nvPr/>
        </p:nvSpPr>
        <p:spPr>
          <a:xfrm>
            <a:off x="858356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8E44CA50-0E69-747D-9192-0EE01ABAE80B}"/>
              </a:ext>
            </a:extLst>
          </p:cNvPr>
          <p:cNvSpPr/>
          <p:nvPr/>
        </p:nvSpPr>
        <p:spPr>
          <a:xfrm>
            <a:off x="951762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54AEBA71-21E5-1BDE-EEE0-A9819294C297}"/>
              </a:ext>
            </a:extLst>
          </p:cNvPr>
          <p:cNvSpPr/>
          <p:nvPr/>
        </p:nvSpPr>
        <p:spPr>
          <a:xfrm>
            <a:off x="10451693" y="6263148"/>
            <a:ext cx="629265" cy="5948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74DC4EFC-A3D0-B398-A71F-7D2D8AB7F0DF}"/>
              </a:ext>
            </a:extLst>
          </p:cNvPr>
          <p:cNvSpPr/>
          <p:nvPr/>
        </p:nvSpPr>
        <p:spPr>
          <a:xfrm>
            <a:off x="1138575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18" name="Obrázek 17">
            <a:extLst>
              <a:ext uri="{FF2B5EF4-FFF2-40B4-BE49-F238E27FC236}">
                <a16:creationId xmlns:a16="http://schemas.microsoft.com/office/drawing/2014/main" id="{CECBDB77-4DD0-0D49-879C-38E19A7F3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810" y="1798844"/>
            <a:ext cx="8278380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130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61487B-EA0D-94D9-384F-5A7E01533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Kryptografické hashovací </a:t>
            </a:r>
            <a:r>
              <a:rPr lang="cs-CZ" dirty="0" err="1"/>
              <a:t>funkc</a:t>
            </a:r>
            <a:r>
              <a:rPr lang="en-US" dirty="0"/>
              <a:t>e</a:t>
            </a:r>
            <a:endParaRPr lang="cs-CZ" dirty="0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B23E966E-D174-E59D-E0B6-E7303AE480EA}"/>
              </a:ext>
            </a:extLst>
          </p:cNvPr>
          <p:cNvSpPr/>
          <p:nvPr/>
        </p:nvSpPr>
        <p:spPr>
          <a:xfrm>
            <a:off x="176978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34EC0D94-3A0F-072F-7802-D4BDCCB1C571}"/>
              </a:ext>
            </a:extLst>
          </p:cNvPr>
          <p:cNvSpPr/>
          <p:nvPr/>
        </p:nvSpPr>
        <p:spPr>
          <a:xfrm>
            <a:off x="1111043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C0DE999A-75CE-CD66-026C-9698182DD6D5}"/>
              </a:ext>
            </a:extLst>
          </p:cNvPr>
          <p:cNvSpPr/>
          <p:nvPr/>
        </p:nvSpPr>
        <p:spPr>
          <a:xfrm>
            <a:off x="204510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2C2D925D-6B75-6343-98E5-6C4C877FBFA2}"/>
              </a:ext>
            </a:extLst>
          </p:cNvPr>
          <p:cNvSpPr/>
          <p:nvPr/>
        </p:nvSpPr>
        <p:spPr>
          <a:xfrm>
            <a:off x="297917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BE1BE27E-9D69-554E-3F7C-F89872E0EB58}"/>
              </a:ext>
            </a:extLst>
          </p:cNvPr>
          <p:cNvSpPr/>
          <p:nvPr/>
        </p:nvSpPr>
        <p:spPr>
          <a:xfrm>
            <a:off x="391323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0EB01E37-17E8-5EF7-16DA-D6453D98C892}"/>
              </a:ext>
            </a:extLst>
          </p:cNvPr>
          <p:cNvSpPr/>
          <p:nvPr/>
        </p:nvSpPr>
        <p:spPr>
          <a:xfrm>
            <a:off x="484730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BB05035F-F8BC-2458-BB4B-05CD9BD0A00A}"/>
              </a:ext>
            </a:extLst>
          </p:cNvPr>
          <p:cNvSpPr/>
          <p:nvPr/>
        </p:nvSpPr>
        <p:spPr>
          <a:xfrm>
            <a:off x="578136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E3E37B33-8DD8-8889-4C38-3B95F2B2565C}"/>
              </a:ext>
            </a:extLst>
          </p:cNvPr>
          <p:cNvSpPr/>
          <p:nvPr/>
        </p:nvSpPr>
        <p:spPr>
          <a:xfrm>
            <a:off x="6715433" y="6774426"/>
            <a:ext cx="629265" cy="83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C4D2C541-5A7A-BF83-6266-AB87E8FB1081}"/>
              </a:ext>
            </a:extLst>
          </p:cNvPr>
          <p:cNvSpPr/>
          <p:nvPr/>
        </p:nvSpPr>
        <p:spPr>
          <a:xfrm>
            <a:off x="7649498" y="6626942"/>
            <a:ext cx="629265" cy="2310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55C14B23-8DB2-DC11-A7EF-42ABB0A61D90}"/>
              </a:ext>
            </a:extLst>
          </p:cNvPr>
          <p:cNvSpPr/>
          <p:nvPr/>
        </p:nvSpPr>
        <p:spPr>
          <a:xfrm>
            <a:off x="858356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8E44CA50-0E69-747D-9192-0EE01ABAE80B}"/>
              </a:ext>
            </a:extLst>
          </p:cNvPr>
          <p:cNvSpPr/>
          <p:nvPr/>
        </p:nvSpPr>
        <p:spPr>
          <a:xfrm>
            <a:off x="951762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54AEBA71-21E5-1BDE-EEE0-A9819294C297}"/>
              </a:ext>
            </a:extLst>
          </p:cNvPr>
          <p:cNvSpPr/>
          <p:nvPr/>
        </p:nvSpPr>
        <p:spPr>
          <a:xfrm>
            <a:off x="10451693" y="6263148"/>
            <a:ext cx="629265" cy="5948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74DC4EFC-A3D0-B398-A71F-7D2D8AB7F0DF}"/>
              </a:ext>
            </a:extLst>
          </p:cNvPr>
          <p:cNvSpPr/>
          <p:nvPr/>
        </p:nvSpPr>
        <p:spPr>
          <a:xfrm>
            <a:off x="1138575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4098" name="Picture 2" descr="What Is a Hash Function in Cryptography? A Beginner's Guide - Hashed Out by  The SSL Store™">
            <a:extLst>
              <a:ext uri="{FF2B5EF4-FFF2-40B4-BE49-F238E27FC236}">
                <a16:creationId xmlns:a16="http://schemas.microsoft.com/office/drawing/2014/main" id="{45A7D5BD-EA8E-13EC-4B57-0CE3292D15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930" y="1513707"/>
            <a:ext cx="696214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2656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DD278-30C4-ED57-C496-2270FB323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CFEE62-54C8-650E-1931-A31C7F6E7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MD</a:t>
            </a:r>
            <a:r>
              <a:rPr lang="en-US" dirty="0"/>
              <a:t>5</a:t>
            </a:r>
            <a:endParaRPr lang="cs-CZ" dirty="0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759DBB98-AE4A-E9AB-B42D-FB0B2D09C18F}"/>
              </a:ext>
            </a:extLst>
          </p:cNvPr>
          <p:cNvSpPr/>
          <p:nvPr/>
        </p:nvSpPr>
        <p:spPr>
          <a:xfrm>
            <a:off x="176978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3E03C3EF-D156-83AD-0178-9FF218D15C6B}"/>
              </a:ext>
            </a:extLst>
          </p:cNvPr>
          <p:cNvSpPr/>
          <p:nvPr/>
        </p:nvSpPr>
        <p:spPr>
          <a:xfrm>
            <a:off x="1111043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22C568FC-6DDC-2F70-E727-815C989248FF}"/>
              </a:ext>
            </a:extLst>
          </p:cNvPr>
          <p:cNvSpPr/>
          <p:nvPr/>
        </p:nvSpPr>
        <p:spPr>
          <a:xfrm>
            <a:off x="204510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6D5DB23D-5BE7-2414-824E-122B8D482D87}"/>
              </a:ext>
            </a:extLst>
          </p:cNvPr>
          <p:cNvSpPr/>
          <p:nvPr/>
        </p:nvSpPr>
        <p:spPr>
          <a:xfrm>
            <a:off x="297917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B67C30FF-4A16-4189-4BD5-C3EF23F3CDDD}"/>
              </a:ext>
            </a:extLst>
          </p:cNvPr>
          <p:cNvSpPr/>
          <p:nvPr/>
        </p:nvSpPr>
        <p:spPr>
          <a:xfrm>
            <a:off x="391323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5E87FCC3-D926-CB1A-4D97-33D15CC62A1B}"/>
              </a:ext>
            </a:extLst>
          </p:cNvPr>
          <p:cNvSpPr/>
          <p:nvPr/>
        </p:nvSpPr>
        <p:spPr>
          <a:xfrm>
            <a:off x="484730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FDBD7194-19CE-E386-C946-63A74F0D4CA2}"/>
              </a:ext>
            </a:extLst>
          </p:cNvPr>
          <p:cNvSpPr/>
          <p:nvPr/>
        </p:nvSpPr>
        <p:spPr>
          <a:xfrm>
            <a:off x="578136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CB9EAD25-F792-8A46-2933-2699AB8310BD}"/>
              </a:ext>
            </a:extLst>
          </p:cNvPr>
          <p:cNvSpPr/>
          <p:nvPr/>
        </p:nvSpPr>
        <p:spPr>
          <a:xfrm>
            <a:off x="6715433" y="6774426"/>
            <a:ext cx="629265" cy="83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136E8793-F2E9-DBED-18FF-126EAAAA75FA}"/>
              </a:ext>
            </a:extLst>
          </p:cNvPr>
          <p:cNvSpPr/>
          <p:nvPr/>
        </p:nvSpPr>
        <p:spPr>
          <a:xfrm>
            <a:off x="7649498" y="6626942"/>
            <a:ext cx="629265" cy="2310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89D22C7E-56F4-2098-8585-9453DB09AFC1}"/>
              </a:ext>
            </a:extLst>
          </p:cNvPr>
          <p:cNvSpPr/>
          <p:nvPr/>
        </p:nvSpPr>
        <p:spPr>
          <a:xfrm>
            <a:off x="858356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B2F6E5CE-A2D1-53E7-C1BA-0ED8F8A29671}"/>
              </a:ext>
            </a:extLst>
          </p:cNvPr>
          <p:cNvSpPr/>
          <p:nvPr/>
        </p:nvSpPr>
        <p:spPr>
          <a:xfrm>
            <a:off x="951762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E3E1AA08-6201-FB87-7F55-3322A41CC13D}"/>
              </a:ext>
            </a:extLst>
          </p:cNvPr>
          <p:cNvSpPr/>
          <p:nvPr/>
        </p:nvSpPr>
        <p:spPr>
          <a:xfrm>
            <a:off x="10451693" y="6263148"/>
            <a:ext cx="629265" cy="5948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FF9FC316-DC9C-AE72-2F63-7AFCCC95B968}"/>
              </a:ext>
            </a:extLst>
          </p:cNvPr>
          <p:cNvSpPr/>
          <p:nvPr/>
        </p:nvSpPr>
        <p:spPr>
          <a:xfrm>
            <a:off x="1138575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1A5CA5D-D20B-62A8-D633-F2FB904D1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Algoritmus MD5:</a:t>
            </a:r>
            <a:endParaRPr lang="en-US" dirty="0"/>
          </a:p>
          <a:p>
            <a:pPr lvl="1"/>
            <a:r>
              <a:rPr lang="cs-CZ" dirty="0"/>
              <a:t>Vstup je rozdělen na bloky o velikosti 512 bitů.</a:t>
            </a:r>
          </a:p>
          <a:p>
            <a:pPr lvl="1"/>
            <a:r>
              <a:rPr lang="cs-CZ" dirty="0"/>
              <a:t>Používá čtyři stavové proměnné (A, B, C, D).</a:t>
            </a:r>
          </a:p>
          <a:p>
            <a:r>
              <a:rPr lang="cs-CZ" dirty="0"/>
              <a:t>Slabiny:</a:t>
            </a:r>
            <a:endParaRPr lang="en-US" dirty="0"/>
          </a:p>
          <a:p>
            <a:pPr lvl="1"/>
            <a:r>
              <a:rPr lang="cs-CZ" dirty="0"/>
              <a:t>Byly nalezeny efektivní metody pro generování kolizí.</a:t>
            </a:r>
          </a:p>
          <a:p>
            <a:r>
              <a:rPr lang="cs-CZ" dirty="0"/>
              <a:t>Důsledky:</a:t>
            </a:r>
            <a:endParaRPr lang="en-US" dirty="0"/>
          </a:p>
          <a:p>
            <a:pPr lvl="1"/>
            <a:r>
              <a:rPr lang="cs-CZ" dirty="0"/>
              <a:t>Nevhodný pro bezpečnostní aplikace.</a:t>
            </a:r>
          </a:p>
          <a:p>
            <a:pPr lvl="1"/>
            <a:r>
              <a:rPr lang="cs-CZ" dirty="0"/>
              <a:t>Stále použitelný pro kontrolní součty tam, kde kolize nejsou kritické.</a:t>
            </a:r>
          </a:p>
          <a:p>
            <a:endParaRPr lang="cs-CZ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DA8B233-5866-95F5-1227-B0D81E6E9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2890" y="167815"/>
            <a:ext cx="285750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3318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D039D-F3ED-DF7F-7DBD-A80447B5E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397286-BBAD-1E87-0BE4-5C2F896A7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SHA-1</a:t>
            </a:r>
            <a:endParaRPr lang="cs-CZ" dirty="0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5040CECA-C7EA-B29D-99B2-09AD7C9D8714}"/>
              </a:ext>
            </a:extLst>
          </p:cNvPr>
          <p:cNvSpPr/>
          <p:nvPr/>
        </p:nvSpPr>
        <p:spPr>
          <a:xfrm>
            <a:off x="176978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EC592768-F0A3-71E4-1C46-B5BE2F5A9102}"/>
              </a:ext>
            </a:extLst>
          </p:cNvPr>
          <p:cNvSpPr/>
          <p:nvPr/>
        </p:nvSpPr>
        <p:spPr>
          <a:xfrm>
            <a:off x="1111043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F73ABD27-A5A2-C860-A632-FF83225FA3A1}"/>
              </a:ext>
            </a:extLst>
          </p:cNvPr>
          <p:cNvSpPr/>
          <p:nvPr/>
        </p:nvSpPr>
        <p:spPr>
          <a:xfrm>
            <a:off x="204510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2C09A59E-96BE-87FB-775D-CC08F04353F3}"/>
              </a:ext>
            </a:extLst>
          </p:cNvPr>
          <p:cNvSpPr/>
          <p:nvPr/>
        </p:nvSpPr>
        <p:spPr>
          <a:xfrm>
            <a:off x="297917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D229FD40-BD65-B657-C7B8-A7E4F2931C2C}"/>
              </a:ext>
            </a:extLst>
          </p:cNvPr>
          <p:cNvSpPr/>
          <p:nvPr/>
        </p:nvSpPr>
        <p:spPr>
          <a:xfrm>
            <a:off x="391323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15D5564E-3FC3-61C6-C5D6-D628CBEEA3D7}"/>
              </a:ext>
            </a:extLst>
          </p:cNvPr>
          <p:cNvSpPr/>
          <p:nvPr/>
        </p:nvSpPr>
        <p:spPr>
          <a:xfrm>
            <a:off x="484730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6AB7BA6F-471F-DDB9-A3DE-34687636C767}"/>
              </a:ext>
            </a:extLst>
          </p:cNvPr>
          <p:cNvSpPr/>
          <p:nvPr/>
        </p:nvSpPr>
        <p:spPr>
          <a:xfrm>
            <a:off x="578136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F23B6C77-7BC8-9944-9997-77939741876F}"/>
              </a:ext>
            </a:extLst>
          </p:cNvPr>
          <p:cNvSpPr/>
          <p:nvPr/>
        </p:nvSpPr>
        <p:spPr>
          <a:xfrm>
            <a:off x="6715433" y="6774426"/>
            <a:ext cx="629265" cy="83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F2A40442-A062-77A8-A786-DDDE520A9D75}"/>
              </a:ext>
            </a:extLst>
          </p:cNvPr>
          <p:cNvSpPr/>
          <p:nvPr/>
        </p:nvSpPr>
        <p:spPr>
          <a:xfrm>
            <a:off x="7649498" y="6626942"/>
            <a:ext cx="629265" cy="2310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A5244FC5-CF45-C4A4-ABEE-6B8518F5D421}"/>
              </a:ext>
            </a:extLst>
          </p:cNvPr>
          <p:cNvSpPr/>
          <p:nvPr/>
        </p:nvSpPr>
        <p:spPr>
          <a:xfrm>
            <a:off x="858356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AA44A41F-AE18-A262-0CAD-8DF838352396}"/>
              </a:ext>
            </a:extLst>
          </p:cNvPr>
          <p:cNvSpPr/>
          <p:nvPr/>
        </p:nvSpPr>
        <p:spPr>
          <a:xfrm>
            <a:off x="951762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7D5F7352-EA52-1962-6A98-9FE5E6B3DB39}"/>
              </a:ext>
            </a:extLst>
          </p:cNvPr>
          <p:cNvSpPr/>
          <p:nvPr/>
        </p:nvSpPr>
        <p:spPr>
          <a:xfrm>
            <a:off x="10451693" y="6263148"/>
            <a:ext cx="629265" cy="5948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202F9E99-E4FD-4FA2-302E-96298FFC7B4C}"/>
              </a:ext>
            </a:extLst>
          </p:cNvPr>
          <p:cNvSpPr/>
          <p:nvPr/>
        </p:nvSpPr>
        <p:spPr>
          <a:xfrm>
            <a:off x="1138575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874356E-600D-26A3-8040-8515D0234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Algoritmus SHA-1</a:t>
            </a:r>
            <a:r>
              <a:rPr lang="cs-CZ" dirty="0"/>
              <a:t>:</a:t>
            </a:r>
            <a:endParaRPr lang="en-US" dirty="0"/>
          </a:p>
          <a:p>
            <a:pPr lvl="1"/>
            <a:r>
              <a:rPr lang="cs-CZ" dirty="0"/>
              <a:t>Také pracuje s bloky o velikosti 512 bitů.</a:t>
            </a:r>
          </a:p>
          <a:p>
            <a:pPr lvl="1"/>
            <a:r>
              <a:rPr lang="cs-CZ" dirty="0"/>
              <a:t>Používá pět stavových proměnných (A, B, C, D, E).</a:t>
            </a:r>
          </a:p>
          <a:p>
            <a:pPr lvl="1"/>
            <a:r>
              <a:rPr lang="cs-CZ" dirty="0"/>
              <a:t>Prochází 80 kol s různými funkcemi a konstantami.</a:t>
            </a:r>
            <a:endParaRPr lang="en-US" dirty="0"/>
          </a:p>
          <a:p>
            <a:r>
              <a:rPr lang="en-US" dirty="0" err="1"/>
              <a:t>Kolize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Stále</a:t>
            </a:r>
            <a:r>
              <a:rPr lang="en-US" dirty="0"/>
              <a:t> </a:t>
            </a:r>
            <a:r>
              <a:rPr lang="en-US" dirty="0" err="1"/>
              <a:t>možné</a:t>
            </a:r>
            <a:r>
              <a:rPr lang="en-US" dirty="0"/>
              <a:t>, ne až tak </a:t>
            </a:r>
            <a:r>
              <a:rPr lang="en-US" dirty="0" err="1"/>
              <a:t>triviální</a:t>
            </a:r>
            <a:r>
              <a:rPr lang="en-US" dirty="0"/>
              <a:t>, ale </a:t>
            </a:r>
            <a:r>
              <a:rPr lang="en-US" dirty="0" err="1"/>
              <a:t>nastávají</a:t>
            </a:r>
            <a:r>
              <a:rPr lang="en-US" dirty="0"/>
              <a:t> v </a:t>
            </a:r>
            <a:r>
              <a:rPr lang="en-US" i="1" dirty="0" err="1"/>
              <a:t>dostatečně</a:t>
            </a:r>
            <a:r>
              <a:rPr lang="en-US" i="1" dirty="0"/>
              <a:t> </a:t>
            </a:r>
            <a:r>
              <a:rPr lang="en-US" i="1" dirty="0" err="1"/>
              <a:t>rychlém</a:t>
            </a:r>
            <a:r>
              <a:rPr lang="en-US" i="1" dirty="0"/>
              <a:t> </a:t>
            </a:r>
            <a:r>
              <a:rPr lang="en-US" i="1" dirty="0" err="1"/>
              <a:t>čase</a:t>
            </a:r>
            <a:r>
              <a:rPr lang="en-US" i="1" dirty="0"/>
              <a:t>.</a:t>
            </a:r>
            <a:endParaRPr lang="cs-CZ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973C512-D445-497F-2129-44FBE6C77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2890" y="167815"/>
            <a:ext cx="285750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5998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78C88-C4E4-A0FE-E83E-61DC13E7D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DF2054B-37E7-595D-E9D1-E15684C8A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SHA-256</a:t>
            </a:r>
            <a:endParaRPr lang="cs-CZ" dirty="0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4EEB7605-1A57-21D1-F7E3-7CDAC6C9BB53}"/>
              </a:ext>
            </a:extLst>
          </p:cNvPr>
          <p:cNvSpPr/>
          <p:nvPr/>
        </p:nvSpPr>
        <p:spPr>
          <a:xfrm>
            <a:off x="176978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F712EAFD-7C25-5E56-0A76-43E73EDB227E}"/>
              </a:ext>
            </a:extLst>
          </p:cNvPr>
          <p:cNvSpPr/>
          <p:nvPr/>
        </p:nvSpPr>
        <p:spPr>
          <a:xfrm>
            <a:off x="1111043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B91CEB73-AA1D-4BFE-8940-5C7D09E2EDE0}"/>
              </a:ext>
            </a:extLst>
          </p:cNvPr>
          <p:cNvSpPr/>
          <p:nvPr/>
        </p:nvSpPr>
        <p:spPr>
          <a:xfrm>
            <a:off x="204510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43D28D41-4BC3-9E17-32D6-21F50DCDD210}"/>
              </a:ext>
            </a:extLst>
          </p:cNvPr>
          <p:cNvSpPr/>
          <p:nvPr/>
        </p:nvSpPr>
        <p:spPr>
          <a:xfrm>
            <a:off x="297917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7EED9C26-40B7-859F-62FE-AFAD783901DC}"/>
              </a:ext>
            </a:extLst>
          </p:cNvPr>
          <p:cNvSpPr/>
          <p:nvPr/>
        </p:nvSpPr>
        <p:spPr>
          <a:xfrm>
            <a:off x="391323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B1887AB8-C9AD-5541-733E-C52530BE8411}"/>
              </a:ext>
            </a:extLst>
          </p:cNvPr>
          <p:cNvSpPr/>
          <p:nvPr/>
        </p:nvSpPr>
        <p:spPr>
          <a:xfrm>
            <a:off x="484730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39682150-EEB5-4980-1FB7-FFD8DFB39763}"/>
              </a:ext>
            </a:extLst>
          </p:cNvPr>
          <p:cNvSpPr/>
          <p:nvPr/>
        </p:nvSpPr>
        <p:spPr>
          <a:xfrm>
            <a:off x="578136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8FCB80A4-AAB9-0697-701A-1C718C823558}"/>
              </a:ext>
            </a:extLst>
          </p:cNvPr>
          <p:cNvSpPr/>
          <p:nvPr/>
        </p:nvSpPr>
        <p:spPr>
          <a:xfrm>
            <a:off x="6715433" y="6774426"/>
            <a:ext cx="629265" cy="83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B5EA8F69-C7C6-525A-32CB-B7F2A64042C7}"/>
              </a:ext>
            </a:extLst>
          </p:cNvPr>
          <p:cNvSpPr/>
          <p:nvPr/>
        </p:nvSpPr>
        <p:spPr>
          <a:xfrm>
            <a:off x="7649498" y="6626942"/>
            <a:ext cx="629265" cy="2310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B6C5AC24-CDAF-788E-0847-41A7314E98FF}"/>
              </a:ext>
            </a:extLst>
          </p:cNvPr>
          <p:cNvSpPr/>
          <p:nvPr/>
        </p:nvSpPr>
        <p:spPr>
          <a:xfrm>
            <a:off x="858356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B478F748-BE6F-1056-C62B-3B5D19471F2C}"/>
              </a:ext>
            </a:extLst>
          </p:cNvPr>
          <p:cNvSpPr/>
          <p:nvPr/>
        </p:nvSpPr>
        <p:spPr>
          <a:xfrm>
            <a:off x="951762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A6C173A5-37A3-A073-53E6-5AE6AFBA115E}"/>
              </a:ext>
            </a:extLst>
          </p:cNvPr>
          <p:cNvSpPr/>
          <p:nvPr/>
        </p:nvSpPr>
        <p:spPr>
          <a:xfrm>
            <a:off x="10451693" y="6263148"/>
            <a:ext cx="629265" cy="5948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9CC3641A-DD9B-0689-126E-91D1812371FE}"/>
              </a:ext>
            </a:extLst>
          </p:cNvPr>
          <p:cNvSpPr/>
          <p:nvPr/>
        </p:nvSpPr>
        <p:spPr>
          <a:xfrm>
            <a:off x="1138575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D0B8827-33EA-C11C-7D17-1B934806C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SHA-256</a:t>
            </a:r>
            <a:r>
              <a:rPr lang="cs-CZ" dirty="0"/>
              <a:t>:</a:t>
            </a:r>
            <a:endParaRPr lang="en-US" dirty="0"/>
          </a:p>
          <a:p>
            <a:pPr lvl="1"/>
            <a:r>
              <a:rPr lang="cs-CZ" dirty="0"/>
              <a:t>Produkuje 256bitový </a:t>
            </a:r>
            <a:r>
              <a:rPr lang="cs-CZ" dirty="0" err="1"/>
              <a:t>hash</a:t>
            </a:r>
            <a:r>
              <a:rPr lang="cs-CZ" dirty="0"/>
              <a:t>.</a:t>
            </a:r>
          </a:p>
          <a:p>
            <a:pPr lvl="1"/>
            <a:r>
              <a:rPr lang="cs-CZ" b="1" dirty="0"/>
              <a:t>Zvýšená bezpečnost</a:t>
            </a:r>
            <a:r>
              <a:rPr lang="cs-CZ" dirty="0"/>
              <a:t> oproti SHA-1.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Struktura</a:t>
            </a:r>
            <a:r>
              <a:rPr lang="cs-CZ" dirty="0"/>
              <a:t>:</a:t>
            </a:r>
            <a:endParaRPr lang="en-US" dirty="0"/>
          </a:p>
          <a:p>
            <a:pPr lvl="1"/>
            <a:r>
              <a:rPr lang="cs-CZ" dirty="0"/>
              <a:t>Používá osm stavových proměnných.</a:t>
            </a:r>
          </a:p>
          <a:p>
            <a:pPr lvl="1"/>
            <a:r>
              <a:rPr lang="cs-CZ" dirty="0"/>
              <a:t>64 kol s komplexnějšími funkcemi.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Výhody</a:t>
            </a:r>
            <a:r>
              <a:rPr lang="cs-CZ" dirty="0"/>
              <a:t>:</a:t>
            </a:r>
            <a:endParaRPr lang="en-US" dirty="0"/>
          </a:p>
          <a:p>
            <a:pPr lvl="1"/>
            <a:r>
              <a:rPr lang="cs-CZ" b="1" dirty="0"/>
              <a:t>Odolnost vůči známým útokům</a:t>
            </a:r>
            <a:r>
              <a:rPr lang="cs-CZ" dirty="0"/>
              <a:t>.</a:t>
            </a:r>
          </a:p>
          <a:p>
            <a:pPr lvl="1"/>
            <a:r>
              <a:rPr lang="cs-CZ" b="1" dirty="0"/>
              <a:t>Doporučený standard</a:t>
            </a:r>
            <a:r>
              <a:rPr lang="cs-CZ" dirty="0"/>
              <a:t> pro nové aplikace.</a:t>
            </a:r>
          </a:p>
        </p:txBody>
      </p:sp>
    </p:spTree>
    <p:extLst>
      <p:ext uri="{BB962C8B-B14F-4D97-AF65-F5344CB8AC3E}">
        <p14:creationId xmlns:p14="http://schemas.microsoft.com/office/powerpoint/2010/main" val="2979879511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FC86DD44E8BE24D9F371B2245B07D1A" ma:contentTypeVersion="0" ma:contentTypeDescription="Vytvoří nový dokument" ma:contentTypeScope="" ma:versionID="a06e8c56ab5e3894d6b58f5fac90d09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e0885882fb67022fa0e44908e625f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51395C2-7E90-4562-8C6E-0CD9B2D541F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8DAB963-99E7-4097-BDE1-B853B66E898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B4D7A3-D653-4C0A-800A-36AAD27DD7C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</TotalTime>
  <Words>617</Words>
  <Application>Microsoft Office PowerPoint</Application>
  <PresentationFormat>Širokoúhlá obrazovka</PresentationFormat>
  <Paragraphs>97</Paragraphs>
  <Slides>11</Slides>
  <Notes>6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Motiv Office</vt:lpstr>
      <vt:lpstr>Kontrola integrity dat</vt:lpstr>
      <vt:lpstr>Úvod do integrity dat</vt:lpstr>
      <vt:lpstr>Co je kontrolní součet? (Checksum)</vt:lpstr>
      <vt:lpstr>Hashovací funkce</vt:lpstr>
      <vt:lpstr>Význam kontrolních součtů a hashování</vt:lpstr>
      <vt:lpstr>Cyclic Redundancy Check (CRC)</vt:lpstr>
      <vt:lpstr>Příklad výpočtu CRC v Pythonu</vt:lpstr>
      <vt:lpstr>Kryptografické hashovací funkce</vt:lpstr>
      <vt:lpstr>MD5</vt:lpstr>
      <vt:lpstr>SHA-1</vt:lpstr>
      <vt:lpstr>SHA-256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Vítězslav Kříž</dc:creator>
  <cp:lastModifiedBy>Kříž Vítězslav</cp:lastModifiedBy>
  <cp:revision>2</cp:revision>
  <dcterms:created xsi:type="dcterms:W3CDTF">2024-09-15T11:50:34Z</dcterms:created>
  <dcterms:modified xsi:type="dcterms:W3CDTF">2024-11-24T19:51:43Z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0x0101004FC86DD44E8BE24D9F371B2245B07D1A</vt:lpwstr>
  </property>
</Properties>
</file>