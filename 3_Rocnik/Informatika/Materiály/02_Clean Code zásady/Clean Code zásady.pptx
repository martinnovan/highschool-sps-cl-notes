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DF6CA3-0250-CF49-676D-F96982CEC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049DB96-82ED-A360-787B-2F7E502B0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9025DB-D946-AE0C-B930-BDC86D9B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9AF1B4C-ACF5-3980-4553-2B22884B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9259A93-7810-15D0-929E-B305BD3B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38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1CDD18-06FD-6B71-8E18-22E7C111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7020E8-ACCD-AB80-FFC9-1C489DB3C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DD3D83A-B18B-8186-C25B-C447FB0C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D6CA067-D011-4620-E5EA-26DA0A21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3388CF-CB38-6C03-9B41-6509857A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712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6357C0-9FAD-94DF-50E9-0AAA7CF3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C884DB4-43A9-F3EC-CE1C-7468264FA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C7BB280-1CA4-6D7E-C50A-62EC8292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EBB029-7531-8CE6-8EFD-E6CAA7C3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028793-B235-7960-A11F-6FD6495C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249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F2A0BB-A0CF-1A05-C0D2-A77C612D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988DA0-9337-26B0-CB41-5EBB5C123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E1EEC74-384A-87B7-6B32-7EC4C3879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B8DEE61-A86E-7E6D-E757-34FF2C88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A6A2D7F-9D6D-1011-298F-7146CD72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B6E197A-B295-F5FE-951D-196868DC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355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618614-25E4-A899-DF64-2D695ABE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53862C6-CC85-A38F-7688-7729C16F2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7E0A8CF-6B30-BB89-9A0B-5A8DE1E1C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D340F55-359C-8423-30A8-78790BF67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9F5C176-ABA3-2AA4-72A5-7F698BF3F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BF34551A-C069-6DAC-2041-C824DA82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EE27464-78CE-B27F-65D9-6E4B87AD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B859A38-CC23-091F-06E5-5F8A6A26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249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2936A4-3651-0216-0A10-2EBDEFC1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F739AC0-A8A4-B9F0-07BD-E3143AB6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380A837-CA06-B561-C101-724A72F7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F627A68-8EA9-8508-330E-61C275AA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155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50F897B-E4E6-5A84-211E-461CAC7B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5C613C8-A683-629A-2BB5-6F264C86B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2BDEA37-9EEB-910C-0302-99BFF413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747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03EE1B-9ED7-82BC-D4B5-75D87FD48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AC4616-302E-0684-E8D4-FD0462A7B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3AB7D2B-57B0-F533-4B2A-4042A57B2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0A90560-2A35-5F7E-8F47-C520E680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1E28B6A-B08A-906A-E4A3-486D25A3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2671F16-3613-58E3-60BC-9E791031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616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AAF530-2A54-CED2-FE40-311F54E1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5E53BBE-4F0E-10B3-AC85-0EFF7F82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CED2A2E-34E2-10B9-44DB-CF72A128A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9E7B93B-B7D5-CA0C-60D6-298EF6D9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7421EA7-392A-8B82-8CBD-30B62D22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532393F-74E3-90C7-6230-119F9962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391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EC566D-4F59-307B-F19A-07062EC4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1AC4DCC-760D-3A66-FB53-E87B137C9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BD9025-4AB7-86B5-92A9-44091F44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3A5612-E81E-B573-6F15-784AB1DD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A29515-D128-4700-B521-33490AD1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661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2C81093-CD62-AF0D-80D1-B2B032E12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E8F32D4-6C74-B34C-5E4C-C628BE52D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0F4BCFC-8533-0253-10E6-BF83ED78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E10802-7730-9930-FA4F-7C6D2838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C758C6A-5450-79AE-C50E-425B448F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57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9D55B47-4F7E-A48D-1197-0E88643F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2589557-ACD3-1E1C-BCD1-77B6AF3C9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D4E4E13-47B3-10C3-66A2-79099C745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6A7A3-99AD-4D01-BE2D-0B6B0D3AEA07}" type="datetimeFigureOut">
              <a:rPr lang="cs-CZ" smtClean="0"/>
              <a:t>15.09.2024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327238-C6EE-D323-7A0F-34F987EC7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A5A784F-1B4C-F737-6657-799024C16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34B77-EFC3-4386-9648-EC528C5FA84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895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4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7 </a:t>
            </a:r>
            <a:r>
              <a:rPr lang="en-US" dirty="0" err="1"/>
              <a:t>zásad</a:t>
            </a:r>
            <a:r>
              <a:rPr lang="en-US" dirty="0"/>
              <a:t> pro </a:t>
            </a:r>
            <a:r>
              <a:rPr lang="en-US" dirty="0" err="1"/>
              <a:t>psaní</a:t>
            </a:r>
            <a:r>
              <a:rPr lang="en-US" dirty="0"/>
              <a:t> </a:t>
            </a:r>
            <a:r>
              <a:rPr lang="en-US" dirty="0" err="1"/>
              <a:t>kódu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254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</a:t>
            </a:r>
            <a:r>
              <a:rPr lang="cs-CZ" dirty="0" err="1"/>
              <a:t>Meaningful</a:t>
            </a:r>
            <a:r>
              <a:rPr lang="cs-CZ" dirty="0"/>
              <a:t> </a:t>
            </a:r>
            <a:r>
              <a:rPr lang="cs-CZ" dirty="0" err="1"/>
              <a:t>Naming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Používejte jasná a popisná jména:</a:t>
            </a:r>
          </a:p>
          <a:p>
            <a:r>
              <a:rPr lang="cs-CZ" sz="2000" dirty="0"/>
              <a:t>Názvy proměnných a funkcí by měly přesně vyjadřovat svůj účel.</a:t>
            </a:r>
          </a:p>
          <a:p>
            <a:r>
              <a:rPr lang="cs-CZ" sz="2000" dirty="0"/>
              <a:t>Proměnné: Používejte podstatná jména (např. </a:t>
            </a:r>
            <a:r>
              <a:rPr lang="en-US" sz="2000" b="1" dirty="0" err="1"/>
              <a:t>customerList</a:t>
            </a:r>
            <a:r>
              <a:rPr lang="cs-CZ" sz="2000" dirty="0"/>
              <a:t>).</a:t>
            </a:r>
          </a:p>
          <a:p>
            <a:r>
              <a:rPr lang="cs-CZ" sz="2000" dirty="0"/>
              <a:t>Funkce: Používejte slovesa (např. </a:t>
            </a:r>
            <a:r>
              <a:rPr lang="en-US" sz="2000" b="1" dirty="0" err="1"/>
              <a:t>getSum</a:t>
            </a:r>
            <a:r>
              <a:rPr lang="cs-CZ" sz="2000" dirty="0"/>
              <a:t>)</a:t>
            </a:r>
            <a:r>
              <a:rPr lang="en-US" sz="2000" dirty="0"/>
              <a:t>, </a:t>
            </a:r>
            <a:r>
              <a:rPr lang="en-US" sz="2000" dirty="0" err="1"/>
              <a:t>která</a:t>
            </a:r>
            <a:r>
              <a:rPr lang="en-US" sz="2000" dirty="0"/>
              <a:t> </a:t>
            </a:r>
            <a:r>
              <a:rPr lang="en-US" sz="2000" dirty="0" err="1"/>
              <a:t>značí</a:t>
            </a:r>
            <a:r>
              <a:rPr lang="en-US" sz="2000" dirty="0"/>
              <a:t>, co se </a:t>
            </a:r>
            <a:r>
              <a:rPr lang="en-US" sz="2000" dirty="0" err="1"/>
              <a:t>děje</a:t>
            </a:r>
            <a:r>
              <a:rPr lang="en-US" sz="2000" dirty="0"/>
              <a:t> s </a:t>
            </a:r>
            <a:r>
              <a:rPr lang="en-US" sz="2000" dirty="0" err="1"/>
              <a:t>daty</a:t>
            </a:r>
            <a:r>
              <a:rPr lang="en-US" sz="2000" dirty="0"/>
              <a:t>.</a:t>
            </a:r>
            <a:endParaRPr lang="cs-CZ" sz="2000" dirty="0"/>
          </a:p>
          <a:p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Pravidla pro pojmenování:</a:t>
            </a:r>
          </a:p>
          <a:p>
            <a:r>
              <a:rPr lang="cs-CZ" sz="2000" dirty="0"/>
              <a:t>Délka mezi </a:t>
            </a:r>
            <a:r>
              <a:rPr lang="cs-CZ" sz="2000" b="1" dirty="0"/>
              <a:t>3-20 znaky</a:t>
            </a:r>
            <a:r>
              <a:rPr lang="cs-CZ" sz="2000" dirty="0"/>
              <a:t>.</a:t>
            </a:r>
          </a:p>
          <a:p>
            <a:r>
              <a:rPr lang="cs-CZ" sz="2000" dirty="0"/>
              <a:t>Vyhněte se zkratkám, pokud nejsou obecně přijímané (např. </a:t>
            </a:r>
            <a:r>
              <a:rPr lang="cs-CZ" sz="2000" b="1" dirty="0"/>
              <a:t>URL</a:t>
            </a:r>
            <a:r>
              <a:rPr lang="cs-CZ" sz="2000" dirty="0"/>
              <a:t>, </a:t>
            </a:r>
            <a:r>
              <a:rPr lang="cs-CZ" sz="2000" b="1" dirty="0"/>
              <a:t>ID</a:t>
            </a:r>
            <a:r>
              <a:rPr lang="cs-CZ" sz="2000" dirty="0"/>
              <a:t>).</a:t>
            </a:r>
          </a:p>
          <a:p>
            <a:r>
              <a:rPr lang="cs-CZ" sz="2000" dirty="0"/>
              <a:t>Konzistentní použití velkých a malých písmen (např. </a:t>
            </a:r>
            <a:r>
              <a:rPr lang="cs-CZ" sz="2000" b="1" dirty="0" err="1"/>
              <a:t>camelCase</a:t>
            </a:r>
            <a:r>
              <a:rPr lang="cs-CZ" sz="2000" dirty="0"/>
              <a:t> pro proměnné a funkce).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7009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</a:t>
            </a:r>
            <a:r>
              <a:rPr lang="cs-CZ" dirty="0"/>
              <a:t>Komentujte </a:t>
            </a:r>
            <a:r>
              <a:rPr lang="en-US" dirty="0"/>
              <a:t>„</a:t>
            </a:r>
            <a:r>
              <a:rPr lang="cs-CZ" dirty="0"/>
              <a:t>Proč,</a:t>
            </a:r>
            <a:r>
              <a:rPr lang="en-US" dirty="0"/>
              <a:t>“</a:t>
            </a:r>
            <a:r>
              <a:rPr lang="cs-CZ" dirty="0"/>
              <a:t> ne </a:t>
            </a:r>
            <a:r>
              <a:rPr lang="en-US" dirty="0"/>
              <a:t>„</a:t>
            </a:r>
            <a:r>
              <a:rPr lang="cs-CZ" dirty="0"/>
              <a:t>Jak</a:t>
            </a:r>
            <a:r>
              <a:rPr lang="en-US" dirty="0"/>
              <a:t>“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Vysvětlete účel:</a:t>
            </a:r>
          </a:p>
          <a:p>
            <a:r>
              <a:rPr lang="cs-CZ" sz="2000" dirty="0"/>
              <a:t>Komentáře by měly objasnit proč kód existuje, ne jak funguje.</a:t>
            </a:r>
          </a:p>
          <a:p>
            <a:r>
              <a:rPr lang="cs-CZ" sz="2000" dirty="0"/>
              <a:t>Předpokládejte, že kód je sám o sobě srozumitelný.</a:t>
            </a:r>
            <a:endParaRPr lang="en-US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Pravidla pro komentování:</a:t>
            </a:r>
          </a:p>
          <a:p>
            <a:r>
              <a:rPr lang="cs-CZ" sz="2000" dirty="0"/>
              <a:t>Začněte slovesem v imperativu (např. "</a:t>
            </a:r>
            <a:r>
              <a:rPr lang="en-US" sz="2000" i="1" dirty="0"/>
              <a:t>Read file, so we can…</a:t>
            </a:r>
            <a:r>
              <a:rPr lang="cs-CZ" sz="2000" dirty="0"/>
              <a:t>").</a:t>
            </a:r>
          </a:p>
          <a:p>
            <a:r>
              <a:rPr lang="cs-CZ" sz="2000" dirty="0"/>
              <a:t>Omezte komentáře na 80 znaků na řádek.</a:t>
            </a:r>
          </a:p>
          <a:p>
            <a:r>
              <a:rPr lang="en-US" sz="2000" dirty="0" err="1"/>
              <a:t>Komentáře</a:t>
            </a:r>
            <a:r>
              <a:rPr lang="en-US" sz="2000" dirty="0"/>
              <a:t> </a:t>
            </a:r>
            <a:r>
              <a:rPr lang="en-US" sz="2000" dirty="0" err="1"/>
              <a:t>patří</a:t>
            </a:r>
            <a:r>
              <a:rPr lang="en-US" sz="2000" dirty="0"/>
              <a:t> </a:t>
            </a:r>
            <a:r>
              <a:rPr lang="cs-CZ" sz="2000" dirty="0"/>
              <a:t>nad </a:t>
            </a:r>
            <a:r>
              <a:rPr lang="en-US" sz="2000" dirty="0" err="1"/>
              <a:t>všechny</a:t>
            </a:r>
            <a:r>
              <a:rPr lang="en-US" sz="2000" dirty="0"/>
              <a:t> </a:t>
            </a:r>
            <a:r>
              <a:rPr lang="en-US" sz="2000" dirty="0" err="1"/>
              <a:t>netriviální</a:t>
            </a:r>
            <a:r>
              <a:rPr lang="en-US" sz="2000" dirty="0"/>
              <a:t> </a:t>
            </a:r>
            <a:r>
              <a:rPr lang="en-US" sz="2000" dirty="0" err="1"/>
              <a:t>funkce</a:t>
            </a:r>
            <a:r>
              <a:rPr lang="en-US" sz="2000" dirty="0"/>
              <a:t> a </a:t>
            </a:r>
            <a:r>
              <a:rPr lang="en-US" sz="2000" dirty="0" err="1"/>
              <a:t>třídy</a:t>
            </a:r>
            <a:r>
              <a:rPr lang="en-US" sz="2000" dirty="0"/>
              <a:t>, </a:t>
            </a:r>
            <a:r>
              <a:rPr lang="en-US" sz="2000" dirty="0" err="1"/>
              <a:t>nad</a:t>
            </a:r>
            <a:r>
              <a:rPr lang="en-US" sz="2000" dirty="0"/>
              <a:t> </a:t>
            </a:r>
            <a:r>
              <a:rPr lang="en-US" sz="2000" dirty="0" err="1"/>
              <a:t>složité</a:t>
            </a:r>
            <a:r>
              <a:rPr lang="en-US" sz="2000" dirty="0"/>
              <a:t> </a:t>
            </a:r>
            <a:r>
              <a:rPr lang="en-US" sz="2000" dirty="0" err="1"/>
              <a:t>řádky</a:t>
            </a:r>
            <a:r>
              <a:rPr lang="en-US" sz="2000" dirty="0"/>
              <a:t> a u </a:t>
            </a:r>
            <a:r>
              <a:rPr lang="en-US" sz="2000" dirty="0" err="1"/>
              <a:t>větších</a:t>
            </a:r>
            <a:r>
              <a:rPr lang="en-US" sz="2000" dirty="0"/>
              <a:t> (</a:t>
            </a:r>
            <a:r>
              <a:rPr lang="en-US" sz="2000" dirty="0" err="1"/>
              <a:t>týmových</a:t>
            </a:r>
            <a:r>
              <a:rPr lang="en-US" sz="2000" dirty="0"/>
              <a:t>) </a:t>
            </a:r>
            <a:r>
              <a:rPr lang="en-US" sz="2000" dirty="0" err="1"/>
              <a:t>projektů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do </a:t>
            </a:r>
            <a:r>
              <a:rPr lang="en-US" sz="2000" dirty="0" err="1"/>
              <a:t>hlavičky</a:t>
            </a:r>
            <a:r>
              <a:rPr lang="en-US" sz="2000" dirty="0"/>
              <a:t> </a:t>
            </a:r>
            <a:r>
              <a:rPr lang="en-US" sz="2000" dirty="0" err="1"/>
              <a:t>souborů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Komentáře</a:t>
            </a:r>
            <a:r>
              <a:rPr lang="en-US" sz="2000" dirty="0"/>
              <a:t> </a:t>
            </a:r>
            <a:r>
              <a:rPr lang="en-US" sz="2000" dirty="0" err="1"/>
              <a:t>jsou</a:t>
            </a:r>
            <a:r>
              <a:rPr lang="en-US" sz="2000" dirty="0"/>
              <a:t> </a:t>
            </a:r>
            <a:r>
              <a:rPr lang="en-US" sz="2000" b="1" dirty="0" err="1"/>
              <a:t>nutné</a:t>
            </a:r>
            <a:r>
              <a:rPr lang="en-US" sz="2000" dirty="0"/>
              <a:t> tam, </a:t>
            </a:r>
            <a:r>
              <a:rPr lang="en-US" sz="2000" dirty="0" err="1"/>
              <a:t>kde</a:t>
            </a:r>
            <a:r>
              <a:rPr lang="en-US" sz="2000" dirty="0"/>
              <a:t> </a:t>
            </a:r>
            <a:r>
              <a:rPr lang="en-US" sz="2000" dirty="0" err="1"/>
              <a:t>vám</a:t>
            </a:r>
            <a:r>
              <a:rPr lang="en-US" sz="2000" dirty="0"/>
              <a:t> ani po </a:t>
            </a:r>
            <a:r>
              <a:rPr lang="en-US" sz="2000" b="1" dirty="0"/>
              <a:t>10 </a:t>
            </a:r>
            <a:r>
              <a:rPr lang="en-US" sz="2000" b="1" dirty="0" err="1"/>
              <a:t>sekundách</a:t>
            </a:r>
            <a:r>
              <a:rPr lang="en-US" sz="2000" b="1" dirty="0"/>
              <a:t> není </a:t>
            </a:r>
            <a:r>
              <a:rPr lang="en-US" sz="2000" b="1" dirty="0" err="1"/>
              <a:t>jasné</a:t>
            </a:r>
            <a:r>
              <a:rPr lang="en-US" sz="2000" b="1" dirty="0"/>
              <a:t>, co </a:t>
            </a:r>
            <a:r>
              <a:rPr lang="en-US" sz="2000" b="1" dirty="0" err="1"/>
              <a:t>kód</a:t>
            </a:r>
            <a:r>
              <a:rPr lang="en-US" sz="2000" b="1" dirty="0"/>
              <a:t> </a:t>
            </a:r>
            <a:r>
              <a:rPr lang="en-US" sz="2000" b="1" dirty="0" err="1"/>
              <a:t>dělá</a:t>
            </a:r>
            <a:r>
              <a:rPr lang="en-US" sz="2000" dirty="0"/>
              <a:t>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098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</a:t>
            </a:r>
            <a:r>
              <a:rPr lang="en-US" dirty="0" err="1"/>
              <a:t>Magické</a:t>
            </a:r>
            <a:r>
              <a:rPr lang="en-US" dirty="0"/>
              <a:t> </a:t>
            </a:r>
            <a:r>
              <a:rPr lang="en-US" dirty="0" err="1"/>
              <a:t>konstanty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Používejte pojmenované konstanty:</a:t>
            </a:r>
          </a:p>
          <a:p>
            <a:r>
              <a:rPr lang="cs-CZ" sz="2000" dirty="0"/>
              <a:t>Nahraďte tvrdě kódované hodnoty jasně pojmenovanými konstantami nebo proměnnými.</a:t>
            </a:r>
          </a:p>
          <a:p>
            <a:r>
              <a:rPr lang="cs-CZ" sz="2000" dirty="0"/>
              <a:t>Zlepšuje čitelnost a udržovatelnost kódu.</a:t>
            </a:r>
            <a:endParaRPr lang="en-US" sz="2000" dirty="0"/>
          </a:p>
          <a:p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Pokyny k implementaci:</a:t>
            </a:r>
          </a:p>
          <a:p>
            <a:r>
              <a:rPr lang="cs-CZ" sz="2000" dirty="0"/>
              <a:t>Definujte konstanty na začátku souboru nebo v konfiguraci.</a:t>
            </a:r>
          </a:p>
          <a:p>
            <a:r>
              <a:rPr lang="cs-CZ" sz="2000" dirty="0"/>
              <a:t>Používejte velká písmena s podtržítky pro názvy konstant (např. MAX_</a:t>
            </a:r>
            <a:r>
              <a:rPr lang="en-US" sz="2000" dirty="0"/>
              <a:t>ATTEMPTS</a:t>
            </a:r>
            <a:r>
              <a:rPr lang="cs-CZ" sz="2000" dirty="0"/>
              <a:t>).</a:t>
            </a:r>
          </a:p>
          <a:p>
            <a:r>
              <a:rPr lang="en-US" sz="2000" dirty="0" err="1"/>
              <a:t>Některé</a:t>
            </a:r>
            <a:r>
              <a:rPr lang="en-US" sz="2000" dirty="0"/>
              <a:t> </a:t>
            </a:r>
            <a:r>
              <a:rPr lang="en-US" sz="2000" dirty="0" err="1"/>
              <a:t>hodnoty</a:t>
            </a:r>
            <a:r>
              <a:rPr lang="en-US" sz="2000" dirty="0"/>
              <a:t> je </a:t>
            </a:r>
            <a:r>
              <a:rPr lang="en-US" sz="2000" dirty="0" err="1"/>
              <a:t>lepší</a:t>
            </a:r>
            <a:r>
              <a:rPr lang="en-US" sz="2000" dirty="0"/>
              <a:t> </a:t>
            </a:r>
            <a:r>
              <a:rPr lang="en-US" sz="2000" dirty="0" err="1"/>
              <a:t>rozepsat</a:t>
            </a:r>
            <a:r>
              <a:rPr lang="en-US" sz="2000" dirty="0"/>
              <a:t> </a:t>
            </a:r>
            <a:r>
              <a:rPr lang="en-US" sz="2000" dirty="0" err="1"/>
              <a:t>klidně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formou</a:t>
            </a:r>
            <a:r>
              <a:rPr lang="en-US" sz="2000" dirty="0"/>
              <a:t> </a:t>
            </a:r>
            <a:r>
              <a:rPr lang="en-US" sz="2000" dirty="0" err="1"/>
              <a:t>rovnice</a:t>
            </a:r>
            <a:r>
              <a:rPr lang="en-US" sz="2000" dirty="0"/>
              <a:t> (DAY = 24 * 60 * 60 * 1000).</a:t>
            </a:r>
          </a:p>
          <a:p>
            <a:r>
              <a:rPr lang="en-US" sz="2000" dirty="0" err="1"/>
              <a:t>Konstanty</a:t>
            </a:r>
            <a:r>
              <a:rPr lang="en-US" sz="2000" dirty="0"/>
              <a:t> by </a:t>
            </a:r>
            <a:r>
              <a:rPr lang="en-US" sz="2000" dirty="0" err="1"/>
              <a:t>měly</a:t>
            </a:r>
            <a:r>
              <a:rPr lang="en-US" sz="2000" dirty="0"/>
              <a:t> </a:t>
            </a:r>
            <a:r>
              <a:rPr lang="en-US" sz="2000" dirty="0" err="1"/>
              <a:t>být</a:t>
            </a:r>
            <a:r>
              <a:rPr lang="en-US" sz="2000" dirty="0"/>
              <a:t> </a:t>
            </a:r>
            <a:r>
              <a:rPr lang="en-US" sz="2000" dirty="0" err="1"/>
              <a:t>opravdu</a:t>
            </a:r>
            <a:r>
              <a:rPr lang="en-US" sz="2000" dirty="0"/>
              <a:t> </a:t>
            </a:r>
            <a:r>
              <a:rPr lang="en-US" sz="2000" dirty="0" err="1"/>
              <a:t>konstantami</a:t>
            </a:r>
            <a:r>
              <a:rPr lang="en-US" sz="2000" dirty="0"/>
              <a:t>, </a:t>
            </a:r>
            <a:r>
              <a:rPr lang="en-US" sz="2000" dirty="0" err="1"/>
              <a:t>tedy</a:t>
            </a:r>
            <a:r>
              <a:rPr lang="en-US" sz="2000" dirty="0"/>
              <a:t> by se </a:t>
            </a:r>
            <a:r>
              <a:rPr lang="en-US" sz="2000" dirty="0" err="1"/>
              <a:t>neměly</a:t>
            </a:r>
            <a:r>
              <a:rPr lang="en-US" sz="2000" dirty="0"/>
              <a:t> </a:t>
            </a:r>
            <a:r>
              <a:rPr lang="en-US" sz="2000" dirty="0" err="1"/>
              <a:t>měnit</a:t>
            </a:r>
            <a:r>
              <a:rPr lang="en-US" sz="2000" dirty="0"/>
              <a:t>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528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4: </a:t>
            </a:r>
            <a:r>
              <a:rPr lang="en-US" dirty="0" err="1"/>
              <a:t>Vedlejší</a:t>
            </a:r>
            <a:r>
              <a:rPr lang="en-US" dirty="0"/>
              <a:t> </a:t>
            </a:r>
            <a:r>
              <a:rPr lang="en-US" dirty="0" err="1"/>
              <a:t>efekty</a:t>
            </a:r>
            <a:r>
              <a:rPr lang="en-US" dirty="0"/>
              <a:t> </a:t>
            </a:r>
            <a:r>
              <a:rPr lang="en-US" dirty="0" err="1"/>
              <a:t>funkcí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Zajistěte čistotu:</a:t>
            </a:r>
          </a:p>
          <a:p>
            <a:r>
              <a:rPr lang="cs-CZ" sz="2000" dirty="0"/>
              <a:t>Funkce by měly plnit svůj úkol bez neočekávaných změn vnějších stavů nebo proměnných.</a:t>
            </a:r>
          </a:p>
          <a:p>
            <a:r>
              <a:rPr lang="cs-CZ" sz="2000" dirty="0"/>
              <a:t>Nemodifikujte globální proměnné nebo vstupní parametry bez očekávání.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cs-CZ" sz="2000" b="1" dirty="0"/>
              <a:t>Osvědčené postupy:</a:t>
            </a:r>
          </a:p>
          <a:p>
            <a:r>
              <a:rPr lang="cs-CZ" sz="2000" dirty="0"/>
              <a:t>Vracejte nové hodnoty místo změny existujících.</a:t>
            </a:r>
          </a:p>
          <a:p>
            <a:r>
              <a:rPr lang="cs-CZ" sz="2000" dirty="0"/>
              <a:t>Pokud jsou vedlejší efekty nezbytné, jasně je zdokumentujte.</a:t>
            </a:r>
          </a:p>
          <a:p>
            <a:r>
              <a:rPr lang="cs-CZ" sz="2000" dirty="0"/>
              <a:t>Udržujte funkce zaměřené na jeden úkol.</a:t>
            </a:r>
            <a:endParaRPr lang="en-US" sz="20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787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5: </a:t>
            </a:r>
            <a:r>
              <a:rPr lang="pl-PL" dirty="0"/>
              <a:t>Udržujte funkce krátké a jednoduché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Délka funkce:</a:t>
            </a:r>
          </a:p>
          <a:p>
            <a:r>
              <a:rPr lang="cs-CZ" sz="2000" dirty="0"/>
              <a:t>Snažte se, aby funkce byly krátké, ideálně mezi 5-20 řádky.</a:t>
            </a:r>
            <a:endParaRPr lang="en-US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Zjednodušte logiku:</a:t>
            </a:r>
          </a:p>
          <a:p>
            <a:r>
              <a:rPr lang="cs-CZ" sz="2000" dirty="0"/>
              <a:t>Vyhněte se hlubokému vnořování; omezte se na maximálně 3 úrovně.</a:t>
            </a:r>
          </a:p>
          <a:p>
            <a:r>
              <a:rPr lang="cs-CZ" sz="2000" dirty="0"/>
              <a:t>Rozdělte složité funkce na menší, znovu použitelné části</a:t>
            </a:r>
            <a:r>
              <a:rPr lang="en-US" sz="2000" dirty="0"/>
              <a:t>.</a:t>
            </a:r>
            <a:endParaRPr lang="cs-CZ" sz="20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59BEA019-C960-5F45-7608-ABDC53DDE3A9}"/>
              </a:ext>
            </a:extLst>
          </p:cNvPr>
          <p:cNvSpPr/>
          <p:nvPr/>
        </p:nvSpPr>
        <p:spPr>
          <a:xfrm>
            <a:off x="966017" y="4908752"/>
            <a:ext cx="176985" cy="67351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FC1C0292-8BB8-C016-2B90-633544E98463}"/>
              </a:ext>
            </a:extLst>
          </p:cNvPr>
          <p:cNvSpPr/>
          <p:nvPr/>
        </p:nvSpPr>
        <p:spPr>
          <a:xfrm>
            <a:off x="3913238" y="4354459"/>
            <a:ext cx="196647" cy="17820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Rovnoramenný trojúhelník 19">
            <a:extLst>
              <a:ext uri="{FF2B5EF4-FFF2-40B4-BE49-F238E27FC236}">
                <a16:creationId xmlns:a16="http://schemas.microsoft.com/office/drawing/2014/main" id="{D9931F88-25AC-1EEB-A5B9-70CD52E0B131}"/>
              </a:ext>
            </a:extLst>
          </p:cNvPr>
          <p:cNvSpPr/>
          <p:nvPr/>
        </p:nvSpPr>
        <p:spPr>
          <a:xfrm rot="5400000">
            <a:off x="6543365" y="4983624"/>
            <a:ext cx="673511" cy="523768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5B7692AA-96C8-02FF-C00A-0CF935443552}"/>
              </a:ext>
            </a:extLst>
          </p:cNvPr>
          <p:cNvSpPr txBox="1"/>
          <p:nvPr/>
        </p:nvSpPr>
        <p:spPr>
          <a:xfrm>
            <a:off x="1260986" y="5060840"/>
            <a:ext cx="1288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10/10</a:t>
            </a:r>
            <a:endParaRPr lang="cs-CZ" dirty="0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9BFAE8BF-962D-4143-0DD4-C7C735F63A2C}"/>
              </a:ext>
            </a:extLst>
          </p:cNvPr>
          <p:cNvSpPr txBox="1"/>
          <p:nvPr/>
        </p:nvSpPr>
        <p:spPr>
          <a:xfrm>
            <a:off x="4203290" y="5060840"/>
            <a:ext cx="1288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8/10</a:t>
            </a:r>
            <a:endParaRPr lang="cs-CZ" dirty="0"/>
          </a:p>
        </p:txBody>
      </p: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7E785F04-AC89-D8A1-82E3-50AA6B7C141E}"/>
              </a:ext>
            </a:extLst>
          </p:cNvPr>
          <p:cNvSpPr txBox="1"/>
          <p:nvPr/>
        </p:nvSpPr>
        <p:spPr>
          <a:xfrm>
            <a:off x="7184923" y="5060840"/>
            <a:ext cx="1288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8/10</a:t>
            </a:r>
            <a:endParaRPr lang="cs-CZ" dirty="0"/>
          </a:p>
        </p:txBody>
      </p:sp>
      <p:sp>
        <p:nvSpPr>
          <p:cNvPr id="26" name="Volný tvar: obrazec 25">
            <a:extLst>
              <a:ext uri="{FF2B5EF4-FFF2-40B4-BE49-F238E27FC236}">
                <a16:creationId xmlns:a16="http://schemas.microsoft.com/office/drawing/2014/main" id="{9C867E68-5C2F-7C21-346F-C9579300F3AF}"/>
              </a:ext>
            </a:extLst>
          </p:cNvPr>
          <p:cNvSpPr/>
          <p:nvPr/>
        </p:nvSpPr>
        <p:spPr>
          <a:xfrm>
            <a:off x="9409570" y="3050716"/>
            <a:ext cx="1586340" cy="3077496"/>
          </a:xfrm>
          <a:custGeom>
            <a:avLst/>
            <a:gdLst>
              <a:gd name="connsiteX0" fmla="*/ 0 w 2458065"/>
              <a:gd name="connsiteY0" fmla="*/ 344129 h 4768645"/>
              <a:gd name="connsiteX1" fmla="*/ 0 w 2458065"/>
              <a:gd name="connsiteY1" fmla="*/ 4768645 h 4768645"/>
              <a:gd name="connsiteX2" fmla="*/ 314632 w 2458065"/>
              <a:gd name="connsiteY2" fmla="*/ 4768645 h 4768645"/>
              <a:gd name="connsiteX3" fmla="*/ 314632 w 2458065"/>
              <a:gd name="connsiteY3" fmla="*/ 4463845 h 4768645"/>
              <a:gd name="connsiteX4" fmla="*/ 1976284 w 2458065"/>
              <a:gd name="connsiteY4" fmla="*/ 4218038 h 4768645"/>
              <a:gd name="connsiteX5" fmla="*/ 668594 w 2458065"/>
              <a:gd name="connsiteY5" fmla="*/ 4021393 h 4768645"/>
              <a:gd name="connsiteX6" fmla="*/ 668594 w 2458065"/>
              <a:gd name="connsiteY6" fmla="*/ 3834580 h 4768645"/>
              <a:gd name="connsiteX7" fmla="*/ 393290 w 2458065"/>
              <a:gd name="connsiteY7" fmla="*/ 3785419 h 4768645"/>
              <a:gd name="connsiteX8" fmla="*/ 2458065 w 2458065"/>
              <a:gd name="connsiteY8" fmla="*/ 3460954 h 4768645"/>
              <a:gd name="connsiteX9" fmla="*/ 1710813 w 2458065"/>
              <a:gd name="connsiteY9" fmla="*/ 3323303 h 4768645"/>
              <a:gd name="connsiteX10" fmla="*/ 1710813 w 2458065"/>
              <a:gd name="connsiteY10" fmla="*/ 3018503 h 4768645"/>
              <a:gd name="connsiteX11" fmla="*/ 2349910 w 2458065"/>
              <a:gd name="connsiteY11" fmla="*/ 2772696 h 4768645"/>
              <a:gd name="connsiteX12" fmla="*/ 904568 w 2458065"/>
              <a:gd name="connsiteY12" fmla="*/ 2595716 h 4768645"/>
              <a:gd name="connsiteX13" fmla="*/ 1671484 w 2458065"/>
              <a:gd name="connsiteY13" fmla="*/ 2379406 h 4768645"/>
              <a:gd name="connsiteX14" fmla="*/ 255639 w 2458065"/>
              <a:gd name="connsiteY14" fmla="*/ 2212258 h 4768645"/>
              <a:gd name="connsiteX15" fmla="*/ 255639 w 2458065"/>
              <a:gd name="connsiteY15" fmla="*/ 1956619 h 4768645"/>
              <a:gd name="connsiteX16" fmla="*/ 816077 w 2458065"/>
              <a:gd name="connsiteY16" fmla="*/ 1809135 h 4768645"/>
              <a:gd name="connsiteX17" fmla="*/ 816077 w 2458065"/>
              <a:gd name="connsiteY17" fmla="*/ 1602658 h 4768645"/>
              <a:gd name="connsiteX18" fmla="*/ 2300748 w 2458065"/>
              <a:gd name="connsiteY18" fmla="*/ 1347019 h 4768645"/>
              <a:gd name="connsiteX19" fmla="*/ 2300748 w 2458065"/>
              <a:gd name="connsiteY19" fmla="*/ 727587 h 4768645"/>
              <a:gd name="connsiteX20" fmla="*/ 1022555 w 2458065"/>
              <a:gd name="connsiteY20" fmla="*/ 501445 h 4768645"/>
              <a:gd name="connsiteX21" fmla="*/ 1022555 w 2458065"/>
              <a:gd name="connsiteY21" fmla="*/ 235974 h 4768645"/>
              <a:gd name="connsiteX22" fmla="*/ 0 w 2458065"/>
              <a:gd name="connsiteY22" fmla="*/ 0 h 4768645"/>
              <a:gd name="connsiteX23" fmla="*/ 0 w 2458065"/>
              <a:gd name="connsiteY23" fmla="*/ 344129 h 476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458065" h="4768645">
                <a:moveTo>
                  <a:pt x="0" y="344129"/>
                </a:moveTo>
                <a:lnTo>
                  <a:pt x="0" y="4768645"/>
                </a:lnTo>
                <a:lnTo>
                  <a:pt x="314632" y="4768645"/>
                </a:lnTo>
                <a:lnTo>
                  <a:pt x="314632" y="4463845"/>
                </a:lnTo>
                <a:lnTo>
                  <a:pt x="1976284" y="4218038"/>
                </a:lnTo>
                <a:lnTo>
                  <a:pt x="668594" y="4021393"/>
                </a:lnTo>
                <a:lnTo>
                  <a:pt x="668594" y="3834580"/>
                </a:lnTo>
                <a:lnTo>
                  <a:pt x="393290" y="3785419"/>
                </a:lnTo>
                <a:lnTo>
                  <a:pt x="2458065" y="3460954"/>
                </a:lnTo>
                <a:lnTo>
                  <a:pt x="1710813" y="3323303"/>
                </a:lnTo>
                <a:lnTo>
                  <a:pt x="1710813" y="3018503"/>
                </a:lnTo>
                <a:lnTo>
                  <a:pt x="2349910" y="2772696"/>
                </a:lnTo>
                <a:lnTo>
                  <a:pt x="904568" y="2595716"/>
                </a:lnTo>
                <a:lnTo>
                  <a:pt x="1671484" y="2379406"/>
                </a:lnTo>
                <a:lnTo>
                  <a:pt x="255639" y="2212258"/>
                </a:lnTo>
                <a:lnTo>
                  <a:pt x="255639" y="1956619"/>
                </a:lnTo>
                <a:lnTo>
                  <a:pt x="816077" y="1809135"/>
                </a:lnTo>
                <a:lnTo>
                  <a:pt x="816077" y="1602658"/>
                </a:lnTo>
                <a:lnTo>
                  <a:pt x="2300748" y="1347019"/>
                </a:lnTo>
                <a:lnTo>
                  <a:pt x="2300748" y="727587"/>
                </a:lnTo>
                <a:lnTo>
                  <a:pt x="1022555" y="501445"/>
                </a:lnTo>
                <a:lnTo>
                  <a:pt x="1022555" y="235974"/>
                </a:lnTo>
                <a:lnTo>
                  <a:pt x="0" y="0"/>
                </a:lnTo>
                <a:lnTo>
                  <a:pt x="0" y="344129"/>
                </a:ln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46A20128-B6AD-6F95-8D45-59C9FB62B578}"/>
              </a:ext>
            </a:extLst>
          </p:cNvPr>
          <p:cNvSpPr txBox="1"/>
          <p:nvPr/>
        </p:nvSpPr>
        <p:spPr>
          <a:xfrm>
            <a:off x="10985805" y="4137510"/>
            <a:ext cx="1050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Prosím</a:t>
            </a:r>
            <a:r>
              <a:rPr lang="en-US" dirty="0"/>
              <a:t> </a:t>
            </a:r>
            <a:r>
              <a:rPr lang="en-US" dirty="0" err="1"/>
              <a:t>takhle</a:t>
            </a:r>
            <a:r>
              <a:rPr lang="en-US" dirty="0"/>
              <a:t> ne.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9027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6: </a:t>
            </a:r>
            <a:r>
              <a:rPr lang="pl-PL" dirty="0"/>
              <a:t>DRY (Don't Repeat Yourself)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Eliminujte duplikaci:</a:t>
            </a:r>
          </a:p>
          <a:p>
            <a:r>
              <a:rPr lang="en-US" sz="2000" dirty="0" err="1"/>
              <a:t>Neopakujte</a:t>
            </a:r>
            <a:r>
              <a:rPr lang="en-US" sz="2000" dirty="0"/>
              <a:t> se.</a:t>
            </a:r>
          </a:p>
          <a:p>
            <a:r>
              <a:rPr lang="en-US" sz="2000" dirty="0" err="1"/>
              <a:t>Neopakujte</a:t>
            </a:r>
            <a:r>
              <a:rPr lang="en-US" sz="2000" dirty="0"/>
              <a:t> se.</a:t>
            </a:r>
            <a:endParaRPr lang="cs-CZ" sz="2000" dirty="0"/>
          </a:p>
          <a:p>
            <a:r>
              <a:rPr lang="en-US" sz="2000" dirty="0" err="1"/>
              <a:t>Neopakujte</a:t>
            </a:r>
            <a:r>
              <a:rPr lang="en-US" sz="2000" dirty="0"/>
              <a:t> se.</a:t>
            </a:r>
            <a:endParaRPr lang="cs-CZ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cs-CZ" sz="2000" b="1" dirty="0"/>
              <a:t>Tipy pro implementaci:</a:t>
            </a:r>
          </a:p>
          <a:p>
            <a:r>
              <a:rPr lang="en-US" sz="2000" dirty="0" err="1"/>
              <a:t>Dá</a:t>
            </a:r>
            <a:r>
              <a:rPr lang="en-US" sz="2000" dirty="0"/>
              <a:t> se to </a:t>
            </a:r>
            <a:r>
              <a:rPr lang="en-US" sz="2000" dirty="0" err="1"/>
              <a:t>napsat</a:t>
            </a:r>
            <a:r>
              <a:rPr lang="en-US" sz="2000" dirty="0"/>
              <a:t> </a:t>
            </a:r>
            <a:r>
              <a:rPr lang="en-US" sz="2000" dirty="0" err="1"/>
              <a:t>jako</a:t>
            </a:r>
            <a:r>
              <a:rPr lang="en-US" sz="2000" dirty="0"/>
              <a:t> </a:t>
            </a:r>
            <a:r>
              <a:rPr lang="en-US" sz="2000" dirty="0" err="1"/>
              <a:t>funkce</a:t>
            </a:r>
            <a:r>
              <a:rPr lang="en-US" sz="2000" dirty="0"/>
              <a:t>? Pak by to </a:t>
            </a:r>
            <a:r>
              <a:rPr lang="en-US" sz="2000" dirty="0" err="1"/>
              <a:t>měla</a:t>
            </a:r>
            <a:r>
              <a:rPr lang="en-US" sz="2000" dirty="0"/>
              <a:t> </a:t>
            </a:r>
            <a:r>
              <a:rPr lang="en-US" sz="2000" dirty="0" err="1"/>
              <a:t>být</a:t>
            </a:r>
            <a:r>
              <a:rPr lang="en-US" sz="2000" dirty="0"/>
              <a:t> </a:t>
            </a:r>
            <a:r>
              <a:rPr lang="en-US" sz="2000" dirty="0" err="1"/>
              <a:t>funkce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Napsat</a:t>
            </a:r>
            <a:r>
              <a:rPr lang="en-US" sz="2000" dirty="0"/>
              <a:t> </a:t>
            </a:r>
            <a:r>
              <a:rPr lang="en-US" sz="2000" dirty="0" err="1"/>
              <a:t>něco</a:t>
            </a:r>
            <a:r>
              <a:rPr lang="en-US" sz="2000" dirty="0"/>
              <a:t> 2x  </a:t>
            </a:r>
            <a:r>
              <a:rPr lang="en-US" sz="2000" dirty="0" err="1"/>
              <a:t>nevadí</a:t>
            </a:r>
            <a:r>
              <a:rPr lang="en-US" sz="2000" dirty="0"/>
              <a:t>, 3x je </a:t>
            </a:r>
            <a:r>
              <a:rPr lang="en-US" sz="2000" dirty="0" err="1"/>
              <a:t>už</a:t>
            </a:r>
            <a:r>
              <a:rPr lang="en-US" sz="2000" dirty="0"/>
              <a:t> </a:t>
            </a:r>
            <a:r>
              <a:rPr lang="en-US" sz="2000" dirty="0" err="1"/>
              <a:t>plýtvání</a:t>
            </a:r>
            <a:r>
              <a:rPr lang="en-US" sz="2000" dirty="0"/>
              <a:t> </a:t>
            </a:r>
            <a:r>
              <a:rPr lang="en-US" sz="2000" dirty="0" err="1"/>
              <a:t>časem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Opakované</a:t>
            </a:r>
            <a:r>
              <a:rPr lang="en-US" sz="2000" dirty="0"/>
              <a:t> </a:t>
            </a:r>
            <a:r>
              <a:rPr lang="en-US" sz="2000" dirty="0" err="1"/>
              <a:t>volání</a:t>
            </a:r>
            <a:r>
              <a:rPr lang="en-US" sz="2000" dirty="0"/>
              <a:t> </a:t>
            </a:r>
            <a:r>
              <a:rPr lang="en-US" sz="2000" dirty="0" err="1"/>
              <a:t>metod</a:t>
            </a:r>
            <a:r>
              <a:rPr lang="en-US" sz="2000" dirty="0"/>
              <a:t> s </a:t>
            </a:r>
            <a:r>
              <a:rPr lang="en-US" sz="2000" dirty="0" err="1"/>
              <a:t>různými</a:t>
            </a:r>
            <a:r>
              <a:rPr lang="en-US" sz="2000" dirty="0"/>
              <a:t> </a:t>
            </a:r>
            <a:r>
              <a:rPr lang="en-US" sz="2000" dirty="0" err="1"/>
              <a:t>argumenty</a:t>
            </a:r>
            <a:r>
              <a:rPr lang="en-US" sz="2000" dirty="0"/>
              <a:t> </a:t>
            </a:r>
            <a:r>
              <a:rPr lang="en-US" sz="2000" dirty="0" err="1"/>
              <a:t>jde</a:t>
            </a:r>
            <a:r>
              <a:rPr lang="en-US" sz="2000" dirty="0"/>
              <a:t> </a:t>
            </a:r>
            <a:r>
              <a:rPr lang="en-US" sz="2000" dirty="0" err="1"/>
              <a:t>většinou</a:t>
            </a:r>
            <a:r>
              <a:rPr lang="en-US" sz="2000" dirty="0"/>
              <a:t> </a:t>
            </a:r>
            <a:r>
              <a:rPr lang="en-US" sz="2000" dirty="0" err="1"/>
              <a:t>nějak</a:t>
            </a:r>
            <a:r>
              <a:rPr lang="en-US" sz="2000" dirty="0"/>
              <a:t> </a:t>
            </a:r>
            <a:r>
              <a:rPr lang="en-US" sz="2000" dirty="0" err="1"/>
              <a:t>abstrahovat</a:t>
            </a:r>
            <a:r>
              <a:rPr lang="en-US" sz="2000" dirty="0"/>
              <a:t>.</a:t>
            </a:r>
            <a:endParaRPr lang="cs-CZ" sz="20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913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61487B-EA0D-94D9-384F-5A7E0153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7: </a:t>
            </a:r>
            <a:r>
              <a:rPr lang="pl-PL" dirty="0"/>
              <a:t>Konzistentní formátování kódu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5938E0-2E29-0132-739B-C47343832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Jednotný styl:</a:t>
            </a:r>
          </a:p>
          <a:p>
            <a:r>
              <a:rPr lang="en-US" sz="2000" dirty="0" err="1"/>
              <a:t>Když</a:t>
            </a:r>
            <a:r>
              <a:rPr lang="en-US" sz="2000" dirty="0"/>
              <a:t> to </a:t>
            </a:r>
            <a:r>
              <a:rPr lang="en-US" sz="2000" dirty="0" err="1"/>
              <a:t>vypadá</a:t>
            </a:r>
            <a:r>
              <a:rPr lang="en-US" sz="2000" dirty="0"/>
              <a:t> </a:t>
            </a:r>
            <a:r>
              <a:rPr lang="en-US" sz="2000" dirty="0" err="1"/>
              <a:t>hezky</a:t>
            </a:r>
            <a:r>
              <a:rPr lang="en-US" sz="2000" dirty="0"/>
              <a:t>, taky se to </a:t>
            </a:r>
            <a:r>
              <a:rPr lang="en-US" sz="2000" dirty="0" err="1"/>
              <a:t>bude</a:t>
            </a:r>
            <a:r>
              <a:rPr lang="en-US" sz="2000" dirty="0"/>
              <a:t> </a:t>
            </a:r>
            <a:r>
              <a:rPr lang="en-US" sz="2000" dirty="0" err="1"/>
              <a:t>číst</a:t>
            </a:r>
            <a:r>
              <a:rPr lang="en-US" sz="2000" dirty="0"/>
              <a:t> </a:t>
            </a:r>
            <a:r>
              <a:rPr lang="en-US" sz="2000" dirty="0" err="1"/>
              <a:t>hezky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Když</a:t>
            </a:r>
            <a:r>
              <a:rPr lang="en-US" sz="2000" dirty="0"/>
              <a:t> se to </a:t>
            </a:r>
            <a:r>
              <a:rPr lang="en-US" sz="2000" dirty="0" err="1"/>
              <a:t>čte</a:t>
            </a:r>
            <a:r>
              <a:rPr lang="en-US" sz="2000" dirty="0"/>
              <a:t> </a:t>
            </a:r>
            <a:r>
              <a:rPr lang="en-US" sz="2000" dirty="0" err="1"/>
              <a:t>hezky</a:t>
            </a:r>
            <a:r>
              <a:rPr lang="en-US" sz="2000" dirty="0"/>
              <a:t>, </a:t>
            </a:r>
            <a:r>
              <a:rPr lang="en-US" sz="2000" dirty="0" err="1"/>
              <a:t>budete</a:t>
            </a:r>
            <a:r>
              <a:rPr lang="en-US" sz="2000" dirty="0"/>
              <a:t> </a:t>
            </a:r>
            <a:r>
              <a:rPr lang="en-US" sz="2000" dirty="0" err="1"/>
              <a:t>dělat</a:t>
            </a:r>
            <a:r>
              <a:rPr lang="en-US" sz="2000" dirty="0"/>
              <a:t> </a:t>
            </a:r>
            <a:r>
              <a:rPr lang="en-US" sz="2000" dirty="0" err="1"/>
              <a:t>méně</a:t>
            </a:r>
            <a:r>
              <a:rPr lang="en-US" sz="2000" dirty="0"/>
              <a:t> </a:t>
            </a:r>
            <a:r>
              <a:rPr lang="en-US" sz="2000" dirty="0" err="1"/>
              <a:t>chyb</a:t>
            </a:r>
            <a:r>
              <a:rPr lang="en-US" sz="2000" dirty="0"/>
              <a:t>.</a:t>
            </a:r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Pravidla formátování:</a:t>
            </a:r>
          </a:p>
          <a:p>
            <a:r>
              <a:rPr lang="cs-CZ" sz="2000" dirty="0"/>
              <a:t>Délka řádku: Omezte</a:t>
            </a:r>
            <a:r>
              <a:rPr lang="en-US" sz="2000" dirty="0"/>
              <a:t> se</a:t>
            </a:r>
            <a:r>
              <a:rPr lang="cs-CZ" sz="2000" dirty="0"/>
              <a:t> na 80 znaků na řádek.</a:t>
            </a:r>
          </a:p>
          <a:p>
            <a:r>
              <a:rPr lang="cs-CZ" sz="2000" dirty="0"/>
              <a:t>Konvence pojmenování: Dodržujte dohodnuté styly (např. </a:t>
            </a:r>
            <a:r>
              <a:rPr lang="cs-CZ" sz="2000" dirty="0" err="1"/>
              <a:t>camelCase</a:t>
            </a:r>
            <a:r>
              <a:rPr lang="cs-CZ" sz="2000" dirty="0"/>
              <a:t>, </a:t>
            </a:r>
            <a:r>
              <a:rPr lang="cs-CZ" sz="2000" dirty="0" err="1"/>
              <a:t>snake_case</a:t>
            </a:r>
            <a:r>
              <a:rPr lang="cs-CZ" sz="2000" dirty="0"/>
              <a:t>).</a:t>
            </a:r>
            <a:endParaRPr lang="en-US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r>
              <a:rPr lang="en-US" sz="2000" b="1" dirty="0"/>
              <a:t>Tip</a:t>
            </a:r>
            <a:r>
              <a:rPr lang="cs-CZ" sz="2000" b="1" dirty="0"/>
              <a:t>:</a:t>
            </a:r>
          </a:p>
          <a:p>
            <a:pPr marL="0" indent="0">
              <a:buNone/>
            </a:pPr>
            <a:r>
              <a:rPr lang="cs-CZ" sz="2000" dirty="0"/>
              <a:t>Používejte </a:t>
            </a:r>
            <a:r>
              <a:rPr lang="cs-CZ" sz="2000" b="1" dirty="0" err="1"/>
              <a:t>lintery</a:t>
            </a:r>
            <a:r>
              <a:rPr lang="cs-CZ" sz="2000" dirty="0"/>
              <a:t> pro automatické dodržování stylových pravidel.</a:t>
            </a:r>
            <a:r>
              <a:rPr lang="en-US" sz="2000" dirty="0"/>
              <a:t> </a:t>
            </a:r>
            <a:r>
              <a:rPr lang="en-US" sz="2000" dirty="0" err="1"/>
              <a:t>ESlint</a:t>
            </a:r>
            <a:r>
              <a:rPr lang="en-US" sz="2000" dirty="0"/>
              <a:t>, Prettier, Black… </a:t>
            </a:r>
            <a:br>
              <a:rPr lang="en-US" sz="2000" dirty="0"/>
            </a:br>
            <a:r>
              <a:rPr lang="en-US" sz="2000" dirty="0"/>
              <a:t>VS Code </a:t>
            </a:r>
            <a:r>
              <a:rPr lang="en-US" sz="2000" dirty="0" err="1"/>
              <a:t>má</a:t>
            </a:r>
            <a:r>
              <a:rPr lang="en-US" sz="2000" dirty="0"/>
              <a:t> </a:t>
            </a:r>
            <a:r>
              <a:rPr lang="en-US" sz="2000" dirty="0" err="1"/>
              <a:t>mnoho</a:t>
            </a:r>
            <a:r>
              <a:rPr lang="en-US" sz="2000" dirty="0"/>
              <a:t> </a:t>
            </a:r>
            <a:r>
              <a:rPr lang="en-US" sz="2000" dirty="0" err="1"/>
              <a:t>možností</a:t>
            </a:r>
            <a:r>
              <a:rPr lang="en-US" sz="2000" dirty="0"/>
              <a:t>.</a:t>
            </a:r>
            <a:endParaRPr lang="cs-CZ" sz="20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23E966E-D174-E59D-E0B6-E7303AE480EA}"/>
              </a:ext>
            </a:extLst>
          </p:cNvPr>
          <p:cNvSpPr/>
          <p:nvPr/>
        </p:nvSpPr>
        <p:spPr>
          <a:xfrm>
            <a:off x="176978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34EC0D94-3A0F-072F-7802-D4BDCCB1C571}"/>
              </a:ext>
            </a:extLst>
          </p:cNvPr>
          <p:cNvSpPr/>
          <p:nvPr/>
        </p:nvSpPr>
        <p:spPr>
          <a:xfrm>
            <a:off x="1111043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0DE999A-75CE-CD66-026C-9698182DD6D5}"/>
              </a:ext>
            </a:extLst>
          </p:cNvPr>
          <p:cNvSpPr/>
          <p:nvPr/>
        </p:nvSpPr>
        <p:spPr>
          <a:xfrm>
            <a:off x="204510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2C2D925D-6B75-6343-98E5-6C4C877FBFA2}"/>
              </a:ext>
            </a:extLst>
          </p:cNvPr>
          <p:cNvSpPr/>
          <p:nvPr/>
        </p:nvSpPr>
        <p:spPr>
          <a:xfrm>
            <a:off x="297917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E1BE27E-9D69-554E-3F7C-F89872E0EB58}"/>
              </a:ext>
            </a:extLst>
          </p:cNvPr>
          <p:cNvSpPr/>
          <p:nvPr/>
        </p:nvSpPr>
        <p:spPr>
          <a:xfrm>
            <a:off x="391323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EB01E37-17E8-5EF7-16DA-D6453D98C892}"/>
              </a:ext>
            </a:extLst>
          </p:cNvPr>
          <p:cNvSpPr/>
          <p:nvPr/>
        </p:nvSpPr>
        <p:spPr>
          <a:xfrm>
            <a:off x="484730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BB05035F-F8BC-2458-BB4B-05CD9BD0A00A}"/>
              </a:ext>
            </a:extLst>
          </p:cNvPr>
          <p:cNvSpPr/>
          <p:nvPr/>
        </p:nvSpPr>
        <p:spPr>
          <a:xfrm>
            <a:off x="578136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3E37B33-8DD8-8889-4C38-3B95F2B2565C}"/>
              </a:ext>
            </a:extLst>
          </p:cNvPr>
          <p:cNvSpPr/>
          <p:nvPr/>
        </p:nvSpPr>
        <p:spPr>
          <a:xfrm>
            <a:off x="6715433" y="6774426"/>
            <a:ext cx="629265" cy="83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C4D2C541-5A7A-BF83-6266-AB87E8FB1081}"/>
              </a:ext>
            </a:extLst>
          </p:cNvPr>
          <p:cNvSpPr/>
          <p:nvPr/>
        </p:nvSpPr>
        <p:spPr>
          <a:xfrm>
            <a:off x="7649498" y="6626942"/>
            <a:ext cx="629265" cy="231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55C14B23-8DB2-DC11-A7EF-42ABB0A61D90}"/>
              </a:ext>
            </a:extLst>
          </p:cNvPr>
          <p:cNvSpPr/>
          <p:nvPr/>
        </p:nvSpPr>
        <p:spPr>
          <a:xfrm>
            <a:off x="8583563" y="6538452"/>
            <a:ext cx="629265" cy="319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8E44CA50-0E69-747D-9192-0EE01ABAE80B}"/>
              </a:ext>
            </a:extLst>
          </p:cNvPr>
          <p:cNvSpPr/>
          <p:nvPr/>
        </p:nvSpPr>
        <p:spPr>
          <a:xfrm>
            <a:off x="9517628" y="6695768"/>
            <a:ext cx="629265" cy="162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54AEBA71-21E5-1BDE-EEE0-A9819294C297}"/>
              </a:ext>
            </a:extLst>
          </p:cNvPr>
          <p:cNvSpPr/>
          <p:nvPr/>
        </p:nvSpPr>
        <p:spPr>
          <a:xfrm>
            <a:off x="10451693" y="6263148"/>
            <a:ext cx="629265" cy="594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4DC4EFC-A3D0-B398-A71F-7D2D8AB7F0DF}"/>
              </a:ext>
            </a:extLst>
          </p:cNvPr>
          <p:cNvSpPr/>
          <p:nvPr/>
        </p:nvSpPr>
        <p:spPr>
          <a:xfrm>
            <a:off x="11385758" y="6440129"/>
            <a:ext cx="629265" cy="417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265639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C86DD44E8BE24D9F371B2245B07D1A" ma:contentTypeVersion="0" ma:contentTypeDescription="Vytvoří nový dokument" ma:contentTypeScope="" ma:versionID="a06e8c56ab5e3894d6b58f5fac90d09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e0885882fb67022fa0e44908e625f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D8EB5A-B138-4481-AA0B-23A03A7490B9}"/>
</file>

<file path=customXml/itemProps2.xml><?xml version="1.0" encoding="utf-8"?>
<ds:datastoreItem xmlns:ds="http://schemas.openxmlformats.org/officeDocument/2006/customXml" ds:itemID="{D8DAB963-99E7-4097-BDE1-B853B66E8983}"/>
</file>

<file path=customXml/itemProps3.xml><?xml version="1.0" encoding="utf-8"?>
<ds:datastoreItem xmlns:ds="http://schemas.openxmlformats.org/officeDocument/2006/customXml" ds:itemID="{D51395C2-7E90-4562-8C6E-0CD9B2D541F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543</Words>
  <Application>Microsoft Office PowerPoint</Application>
  <PresentationFormat>Širokoúhlá obrazovka</PresentationFormat>
  <Paragraphs>74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Motiv Office</vt:lpstr>
      <vt:lpstr>Clean Code</vt:lpstr>
      <vt:lpstr>1: Meaningful Naming</vt:lpstr>
      <vt:lpstr>2: Komentujte „Proč,“ ne „Jak“</vt:lpstr>
      <vt:lpstr>3: Magické konstanty</vt:lpstr>
      <vt:lpstr>4: Vedlejší efekty funkcí</vt:lpstr>
      <vt:lpstr>5: Udržujte funkce krátké a jednoduché</vt:lpstr>
      <vt:lpstr>6: DRY (Don't Repeat Yourself)</vt:lpstr>
      <vt:lpstr>7: Konzistentní formátování kódu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Vítězslav Kříž</dc:creator>
  <cp:lastModifiedBy>Vítězslav Kříž</cp:lastModifiedBy>
  <cp:revision>1</cp:revision>
  <dcterms:created xsi:type="dcterms:W3CDTF">2024-09-15T11:50:34Z</dcterms:created>
  <dcterms:modified xsi:type="dcterms:W3CDTF">2024-09-15T12:38:31Z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0x0101004FC86DD44E8BE24D9F371B2245B07D1A</vt:lpwstr>
  </property>
</Properties>
</file>